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3" r:id="rId3"/>
    <p:sldId id="279" r:id="rId4"/>
    <p:sldId id="266" r:id="rId5"/>
    <p:sldId id="271" r:id="rId6"/>
    <p:sldId id="260" r:id="rId7"/>
    <p:sldId id="268" r:id="rId8"/>
    <p:sldId id="269" r:id="rId9"/>
    <p:sldId id="272" r:id="rId10"/>
    <p:sldId id="274" r:id="rId11"/>
    <p:sldId id="275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7B8"/>
    <a:srgbClr val="F5F5F5"/>
    <a:srgbClr val="97AE5D"/>
    <a:srgbClr val="0054BB"/>
    <a:srgbClr val="FAEB8F"/>
    <a:srgbClr val="DEBB49"/>
    <a:srgbClr val="626539"/>
    <a:srgbClr val="0D1306"/>
    <a:srgbClr val="536DA5"/>
    <a:srgbClr val="4F6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3C4C7-666D-3628-041E-C4400B5C68B2}" v="1339" dt="2026-07-17T15:06:13.385"/>
    <p1510:client id="{1D45E546-E536-7ACD-AC9B-6501E289A171}" v="289" dt="2026-07-19T07:33:51.910"/>
    <p1510:client id="{2318756A-A886-D363-4CCB-A318BAF455EE}" v="47" dt="2026-07-18T17:12:37.110"/>
    <p1510:client id="{314C8B7C-DB1C-560C-01D1-6FA1E20C285A}" v="110" dt="2026-07-18T08:17:08.846"/>
    <p1510:client id="{44621377-F0BC-4366-0EE5-5328D0AE44CE}" v="730" dt="2026-07-18T18:35:56.636"/>
    <p1510:client id="{573820F6-F84E-4DD1-ECEB-A15C68A33A59}" v="121" dt="2026-07-18T17:09:16.886"/>
    <p1510:client id="{66D2ADAB-42DA-59A8-4F08-8C252BBF738F}" v="1340" dt="2026-07-18T14:12:48.615"/>
    <p1510:client id="{6E8622D9-CE9F-4B6B-77DD-946629DDB400}" v="852" dt="2026-07-19T13:54:25.978"/>
    <p1510:client id="{747158C3-58A8-A10A-799C-3C61F033DDC1}" v="149" dt="2026-07-18T08:06:14.446"/>
    <p1510:client id="{799B3A22-A64B-B7B8-2835-65447FF9C025}" v="614" dt="2026-07-19T09:41:57.285"/>
    <p1510:client id="{AFEF9BEE-A217-EF2F-14AE-68D7303C1822}" v="4013" dt="2026-07-17T15:43:43.172"/>
    <p1510:client id="{B7DB4591-E397-15AB-C049-1DAA1893A631}" v="37" dt="2026-07-19T08:16:00.847"/>
    <p1510:client id="{B7F949B3-FF53-AD67-F9A8-73991B9910C3}" v="251" dt="2026-07-18T16:43:58.405"/>
    <p1510:client id="{BD6EB44C-032D-A781-1786-9851ED2EC368}" v="18" dt="2026-07-19T06:22:04.298"/>
    <p1510:client id="{C799244C-7D63-B0B0-FC54-A29A6B497BE6}" v="425" dt="2026-07-18T17:42:45.242"/>
    <p1510:client id="{CD2A9423-1214-8A79-21A3-41B5886CF371}" v="311" dt="2026-07-17T17:04:49.728"/>
    <p1510:client id="{F8EE5F2C-C5A6-F79C-52B9-B8430F543DEF}" v="155" dt="2026-07-18T16:58:05.922"/>
    <p1510:client id="{FA227A13-372C-2072-CDDF-CAF2F278EECD}" v="3" dt="2026-07-18T11:52:49.938"/>
    <p1510:client id="{FA531907-9D3D-1485-58A0-5377A74F6CBE}" v="1403" dt="2026-07-19T07:45:33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828d4b989b2eff5/Catalyst_180DC%20BIT%20Mesra_Round1_BarClustered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AB9B1056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AB9B1056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 Billions)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USA-Canada-Mexico 2026 (co-host)</c:v>
                </c:pt>
                <c:pt idx="1">
                  <c:v>Spain-Portugal-Morocco 2030 (co-host)</c:v>
                </c:pt>
                <c:pt idx="2">
                  <c:v>Qatar 2022 (solo)</c:v>
                </c:pt>
                <c:pt idx="3">
                  <c:v>Brazil 2014 (solo)</c:v>
                </c:pt>
              </c:strCache>
            </c:strRef>
          </c:cat>
          <c:val>
            <c:numRef>
              <c:f>Sheet1!$B$2:$B$5</c:f>
              <c:numCache>
                <c:formatCode>_-[$$-409]* #,##0.00_ ;_-[$$-409]* \-#,##0.00\ ;_-[$$-409]* "-"_ ;_-@_ </c:formatCode>
                <c:ptCount val="4"/>
                <c:pt idx="0">
                  <c:v>2.25</c:v>
                </c:pt>
                <c:pt idx="1">
                  <c:v>17.5</c:v>
                </c:pt>
                <c:pt idx="2">
                  <c:v>220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63-40A4-AC26-500C1B56A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78057984"/>
        <c:axId val="1798648144"/>
      </c:barChart>
      <c:catAx>
        <c:axId val="1578057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648144"/>
        <c:crosses val="autoZero"/>
        <c:auto val="1"/>
        <c:lblAlgn val="ctr"/>
        <c:lblOffset val="100"/>
        <c:noMultiLvlLbl val="0"/>
      </c:catAx>
      <c:valAx>
        <c:axId val="1798648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.00_ ;_-[$$-409]* \-#,##0.00\ ;_-[$$-409]* &quot;-&quot;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8057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1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IN" sz="1100" b="1" i="0" u="none" strike="noStrike">
                <a:solidFill>
                  <a:srgbClr val="1B2A4A"/>
                </a:solidFill>
                <a:latin typeface="Calibri"/>
              </a:rPr>
              <a:t>₹1,00,000 cr — category allocation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57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A2-48BC-AC96-35B693D83F8B}"/>
              </c:ext>
            </c:extLst>
          </c:dPt>
          <c:dPt>
            <c:idx val="1"/>
            <c:bubble3D val="0"/>
            <c:spPr>
              <a:solidFill>
                <a:srgbClr val="0F7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A2-48BC-AC96-35B693D83F8B}"/>
              </c:ext>
            </c:extLst>
          </c:dPt>
          <c:dPt>
            <c:idx val="2"/>
            <c:bubble3D val="0"/>
            <c:spPr>
              <a:solidFill>
                <a:srgbClr val="E891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A2-48BC-AC96-35B693D83F8B}"/>
              </c:ext>
            </c:extLst>
          </c:dPt>
          <c:dPt>
            <c:idx val="3"/>
            <c:bubble3D val="0"/>
            <c:spPr>
              <a:solidFill>
                <a:srgbClr val="2776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A2-48BC-AC96-35B693D83F8B}"/>
              </c:ext>
            </c:extLst>
          </c:dPt>
          <c:dPt>
            <c:idx val="4"/>
            <c:bubble3D val="0"/>
            <c:spPr>
              <a:solidFill>
                <a:srgbClr val="8EA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7A2-48BC-AC96-35B693D83F8B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7A2-48BC-AC96-35B693D83F8B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7A2-48BC-AC96-35B693D83F8B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7A2-48BC-AC96-35B693D83F8B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7A2-48BC-AC96-35B693D83F8B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7A2-48BC-AC96-35B693D83F8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Grassroots 34%</c:v>
                </c:pt>
                <c:pt idx="1">
                  <c:v>Coaching 22%</c:v>
                </c:pt>
                <c:pt idx="2">
                  <c:v>Infrastructure 16%</c:v>
                </c:pt>
                <c:pt idx="3">
                  <c:v>Data 16%</c:v>
                </c:pt>
                <c:pt idx="4">
                  <c:v>Governance 12%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22</c:v>
                </c:pt>
                <c:pt idx="2">
                  <c:v>16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7A2-48BC-AC96-35B693D83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50" b="1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US" sz="1050" b="1" i="0" u="none" strike="noStrike">
                <a:solidFill>
                  <a:srgbClr val="1B2A4A"/>
                </a:solidFill>
                <a:latin typeface="Calibri"/>
              </a:rPr>
              <a:t>Annual investment vs. a global benchmark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 / year</c:v>
                </c:pt>
              </c:strCache>
            </c:strRef>
          </c:tx>
          <c:spPr>
            <a:solidFill>
              <a:srgbClr val="A8B4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BED-4650-8CAE-5972E19F75B6}"/>
              </c:ext>
            </c:extLst>
          </c:dPt>
          <c:dPt>
            <c:idx val="1"/>
            <c:invertIfNegative val="0"/>
            <c:bubble3D val="0"/>
            <c:spPr>
              <a:solidFill>
                <a:srgbClr val="0F7A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BED-4650-8CAE-5972E19F75B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Saudi Arabia (sports, since 2021)</c:v>
                </c:pt>
                <c:pt idx="1">
                  <c:v>India (Mission 2047 ask)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9960</c:v>
                </c:pt>
                <c:pt idx="1">
                  <c:v>4980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BED-4650-8CAE-5972E19F75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3E382-3A1D-B249-A77F-E190BAEC5B5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23EE99-EC18-7A4E-8C7B-4006F1498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9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A4A7-8348-D35E-B8B4-52F9CCE3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4D723-C1FB-89B4-D2B2-5FA2E51DF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30579-60F9-2FD1-1370-E14F34EF8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5BD1B-4DA3-4E43-8A97-059B8079C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64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408DC-A768-C691-BC71-123A93432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49AA1-4BFD-0DEB-9CD6-3B300D48E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ABBD2-CA81-3433-D518-81E3268C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29454-F16B-1180-84E6-B867107E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16BCA-1EC0-A835-4581-ABD1F504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3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64F0-E6B8-8BD2-1977-E63ED1475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50700-F23A-96C7-C557-B4FDA85F1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F2825-FE3E-50A0-A75E-CEBB197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D35E8-C622-EB72-30D4-99041232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1AB9-A21F-23A3-BC95-E61AAB63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63FE-E764-4182-C222-AD2AACC1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D2E62-58D7-1402-C717-3E3D79DC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69512-CBFA-F43B-E42F-53211C36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A140-88A4-11E6-CE41-3DA567A3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83C3D-504E-1675-E9E9-2208D716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79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FD03-86A2-D376-67FE-C1CA92F6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CF592-A002-3E63-6F09-E5A7409EF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77D88-E578-6490-7B38-65F827E38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E24F9-215E-E5E6-AA33-38914BE6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E1A39-103E-C197-BE0E-408D4270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24C0-796D-39A5-4CD2-1AF57BF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06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F99A-6EF5-5BA7-A1FD-261DEAB6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61DCD-52AB-D1BA-692E-7CE8D51D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66EF-BF9D-1947-707F-4E67BF9B9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12002-1166-9C78-4A33-BC94D0106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7E89AE-E592-B40A-5807-D81F9B6EB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FD309-CCA6-C096-3E03-8B6CF79B9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B6FB-8ECD-EA58-4964-B36E3C181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57F5F-F8F1-7761-B3A2-5EB31DBE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4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CDD16-20BD-C706-BA97-9DDF38D1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BCDA59-DD83-CF25-1CA1-86801094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39E0D-DA08-6459-784F-EBA283BE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D5157-2771-EEF1-7394-0ABD4F71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86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1A976-0580-8514-5E02-74906F5D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38498-A8FE-446A-014D-89320AA1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DEF7C-F69A-EFE6-B092-EA2DA8AF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39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DB9A-EB6C-6640-9104-E88FABD1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B02D-3AC2-9651-E001-C402E7EDE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62946-D3B6-6CDE-4EA4-6D29F7197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2C817-4248-F4DD-5707-121390D4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D2E75-F261-E90C-18BE-74BBDBAD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FAF0-F8AE-51F6-9404-928A6832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68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AE2C-59B7-DD1C-6C38-AFD3B53A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20006-F06A-7B22-224B-FF0EE7FCC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2EBA9-785E-4AA1-C840-EBB1236DD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49CB1-CCB0-9CB0-DE70-4DE7A17B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C4965-1EB0-8EE2-AEC1-6ED652CC3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27FF2-13C8-8E6A-1CFF-1B7667CC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95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41BB-4447-8334-D26C-E5C798DE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AB2B4-F7DB-A042-F78F-87731BA8F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0A6EA-44F8-6097-ABD7-5A84027A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A448-3B99-4DBF-A74D-789717D6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C52D-B17B-9123-84F1-68EAB463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03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AF6796-B5E6-4D85-FDB4-2DD3122AE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DD53C-FCFA-8957-057C-227892F35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FD135-88F2-C476-3B75-2ACAB4CD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75F0-953A-BC69-2A34-49C86085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2B95-F35D-162A-0A99-6105CE0C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59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756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ED41B-3124-EAE5-31C6-F5CEB3F6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69322-3959-FC36-9A27-F171E6600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5EE77-2EDF-A181-AFE6-A095FBDE2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49446-0A92-4499-A5E9-C29781A57D3A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6EF18-59B0-1121-C127-B6525B3C6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03F7D-1421-8612-B4AE-0D469A87F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36D23-0BA3-4592-A1B4-0D1DA481B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20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 9">
            <a:extLst>
              <a:ext uri="{FF2B5EF4-FFF2-40B4-BE49-F238E27FC236}">
                <a16:creationId xmlns:a16="http://schemas.microsoft.com/office/drawing/2014/main" id="{F4BC4B6F-C109-4144-4BBC-62005FE61907}"/>
              </a:ext>
            </a:extLst>
          </p:cNvPr>
          <p:cNvGrpSpPr/>
          <p:nvPr/>
        </p:nvGrpSpPr>
        <p:grpSpPr>
          <a:xfrm>
            <a:off x="10171041" y="867"/>
            <a:ext cx="2347923" cy="805464"/>
            <a:chOff x="10171041" y="867"/>
            <a:chExt cx="2347923" cy="805464"/>
          </a:xfrm>
        </p:grpSpPr>
        <p:sp>
          <p:nvSpPr>
            <p:cNvPr id="43" name="Bagan alur: Proses Pengganti 42">
              <a:extLst>
                <a:ext uri="{FF2B5EF4-FFF2-40B4-BE49-F238E27FC236}">
                  <a16:creationId xmlns:a16="http://schemas.microsoft.com/office/drawing/2014/main" id="{763FE40F-A97B-CB75-79B3-900A692B08A0}"/>
                </a:ext>
              </a:extLst>
            </p:cNvPr>
            <p:cNvSpPr/>
            <p:nvPr/>
          </p:nvSpPr>
          <p:spPr>
            <a:xfrm>
              <a:off x="10171041" y="867"/>
              <a:ext cx="2347923" cy="805464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5BBCB89-C62E-058C-4202-92414D0DA25D}"/>
                </a:ext>
              </a:extLst>
            </p:cNvPr>
            <p:cNvGrpSpPr/>
            <p:nvPr/>
          </p:nvGrpSpPr>
          <p:grpSpPr>
            <a:xfrm>
              <a:off x="10574261" y="42750"/>
              <a:ext cx="1338581" cy="718767"/>
              <a:chOff x="4761287" y="108061"/>
              <a:chExt cx="2659382" cy="129208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9DE56F1-FEE6-9986-ED40-DDD63CDFC01F}"/>
                  </a:ext>
                </a:extLst>
              </p:cNvPr>
              <p:cNvGrpSpPr/>
              <p:nvPr/>
            </p:nvGrpSpPr>
            <p:grpSpPr>
              <a:xfrm>
                <a:off x="4761287" y="120952"/>
                <a:ext cx="2659382" cy="1279193"/>
                <a:chOff x="4761287" y="120950"/>
                <a:chExt cx="11244549" cy="5571062"/>
              </a:xfrm>
            </p:grpSpPr>
            <p:pic>
              <p:nvPicPr>
                <p:cNvPr id="6" name="Picture 5" descr="Home | 180 Degrees Consulting UniMelb, Australia">
                  <a:extLst>
                    <a:ext uri="{FF2B5EF4-FFF2-40B4-BE49-F238E27FC236}">
                      <a16:creationId xmlns:a16="http://schemas.microsoft.com/office/drawing/2014/main" id="{625BE37C-8B52-33D5-0E97-91EA94A9F3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761287" y="120950"/>
                  <a:ext cx="5111450" cy="5571062"/>
                </a:xfrm>
                <a:prstGeom prst="rect">
                  <a:avLst/>
                </a:prstGeom>
              </p:spPr>
            </p:pic>
            <p:pic>
              <p:nvPicPr>
                <p:cNvPr id="11" name="Picture 10" descr="Birla Institute of Technology, Mesra - Wikipedia">
                  <a:extLst>
                    <a:ext uri="{FF2B5EF4-FFF2-40B4-BE49-F238E27FC236}">
                      <a16:creationId xmlns:a16="http://schemas.microsoft.com/office/drawing/2014/main" id="{F4556D5D-0867-2FDF-9EAC-4547D80F32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14169" y="247679"/>
                  <a:ext cx="5291667" cy="5191193"/>
                </a:xfrm>
                <a:prstGeom prst="rect">
                  <a:avLst/>
                </a:prstGeom>
              </p:spPr>
            </p:pic>
          </p:grp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2F55D583-312D-50EC-3A0C-05017507042C}"/>
                  </a:ext>
                </a:extLst>
              </p:cNvPr>
              <p:cNvCxnSpPr/>
              <p:nvPr/>
            </p:nvCxnSpPr>
            <p:spPr>
              <a:xfrm flipH="1" flipV="1">
                <a:off x="6094327" y="108061"/>
                <a:ext cx="6152" cy="1289730"/>
              </a:xfrm>
              <a:prstGeom prst="straightConnector1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 35">
            <a:extLst>
              <a:ext uri="{FF2B5EF4-FFF2-40B4-BE49-F238E27FC236}">
                <a16:creationId xmlns:a16="http://schemas.microsoft.com/office/drawing/2014/main" id="{8E17D37B-AA0F-7C9D-44A3-4B372DED056C}"/>
              </a:ext>
            </a:extLst>
          </p:cNvPr>
          <p:cNvGrpSpPr/>
          <p:nvPr/>
        </p:nvGrpSpPr>
        <p:grpSpPr>
          <a:xfrm>
            <a:off x="-247463" y="5199006"/>
            <a:ext cx="6953970" cy="1659558"/>
            <a:chOff x="3482708" y="2136492"/>
            <a:chExt cx="7885227" cy="1826472"/>
          </a:xfrm>
        </p:grpSpPr>
        <p:sp>
          <p:nvSpPr>
            <p:cNvPr id="28" name="Persegi: Satu Sudut Lengkung 27">
              <a:extLst>
                <a:ext uri="{FF2B5EF4-FFF2-40B4-BE49-F238E27FC236}">
                  <a16:creationId xmlns:a16="http://schemas.microsoft.com/office/drawing/2014/main" id="{C891F467-A783-A69B-1613-4E40473EE57F}"/>
                </a:ext>
              </a:extLst>
            </p:cNvPr>
            <p:cNvSpPr/>
            <p:nvPr/>
          </p:nvSpPr>
          <p:spPr>
            <a:xfrm>
              <a:off x="3742312" y="2136492"/>
              <a:ext cx="7625623" cy="1826472"/>
            </a:xfrm>
            <a:prstGeom prst="round1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B736184-7F60-F4B9-827D-1932E705DC73}"/>
                </a:ext>
              </a:extLst>
            </p:cNvPr>
            <p:cNvSpPr txBox="1"/>
            <p:nvPr/>
          </p:nvSpPr>
          <p:spPr>
            <a:xfrm>
              <a:off x="3526252" y="3235687"/>
              <a:ext cx="188963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Jones G</a:t>
              </a:r>
              <a:endParaRPr lang="en-US" sz="1400">
                <a:solidFill>
                  <a:schemeClr val="bg1"/>
                </a:solidFill>
                <a:latin typeface="Aptos Display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0940F64-0959-FFBC-FDA3-88912B8D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008" b="28451"/>
            <a:stretch>
              <a:fillRect/>
            </a:stretch>
          </p:blipFill>
          <p:spPr>
            <a:xfrm>
              <a:off x="7299551" y="2282144"/>
              <a:ext cx="934385" cy="907597"/>
            </a:xfrm>
            <a:prstGeom prst="ellipse">
              <a:avLst/>
            </a:prstGeom>
            <a:effectLst>
              <a:outerShdw blurRad="50800" dist="38100" dir="2700000">
                <a:srgbClr val="000000">
                  <a:alpha val="40000"/>
                </a:srgb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40BBA4-4A85-EDEB-1CA6-040FC47F4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63" t="3620" r="13001" b="20641"/>
            <a:stretch>
              <a:fillRect/>
            </a:stretch>
          </p:blipFill>
          <p:spPr>
            <a:xfrm>
              <a:off x="9106578" y="2272215"/>
              <a:ext cx="956159" cy="922113"/>
            </a:xfrm>
            <a:prstGeom prst="ellipse">
              <a:avLst/>
            </a:prstGeom>
            <a:effectLst>
              <a:outerShdw blurRad="50800" dist="38100" dir="2700000">
                <a:srgbClr val="000000">
                  <a:alpha val="40000"/>
                </a:srgb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F46E64-8799-1CF6-9439-6C13EE73C51F}"/>
                </a:ext>
              </a:extLst>
            </p:cNvPr>
            <p:cNvSpPr txBox="1"/>
            <p:nvPr/>
          </p:nvSpPr>
          <p:spPr>
            <a:xfrm>
              <a:off x="3482708" y="3467914"/>
              <a:ext cx="2063801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180 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Browallia New"/>
                </a:rPr>
                <a:t>DC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 BIT MESRA</a:t>
              </a:r>
            </a:p>
          </p:txBody>
        </p:sp>
        <p:pic>
          <p:nvPicPr>
            <p:cNvPr id="12" name="Picture 11" descr="A person with his hands together&#10;&#10;AI-generated content may be incorrect.">
              <a:extLst>
                <a:ext uri="{FF2B5EF4-FFF2-40B4-BE49-F238E27FC236}">
                  <a16:creationId xmlns:a16="http://schemas.microsoft.com/office/drawing/2014/main" id="{FBFA45CC-B6F8-083A-CA45-A05444C36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485"/>
            <a:stretch>
              <a:fillRect/>
            </a:stretch>
          </p:blipFill>
          <p:spPr>
            <a:xfrm>
              <a:off x="5655583" y="2303915"/>
              <a:ext cx="880788" cy="893083"/>
            </a:xfrm>
            <a:prstGeom prst="ellipse">
              <a:avLst/>
            </a:prstGeom>
            <a:effectLst>
              <a:outerShdw blurRad="50800" dist="38100" dir="2700000">
                <a:srgbClr val="000000">
                  <a:alpha val="40000"/>
                </a:srgbClr>
              </a:outerShdw>
            </a:effectLst>
          </p:spPr>
        </p:pic>
        <p:pic>
          <p:nvPicPr>
            <p:cNvPr id="13" name="Picture 12" descr="A person smiling at the camera&#10;&#10;AI-generated content may be incorrect.">
              <a:extLst>
                <a:ext uri="{FF2B5EF4-FFF2-40B4-BE49-F238E27FC236}">
                  <a16:creationId xmlns:a16="http://schemas.microsoft.com/office/drawing/2014/main" id="{5493BCB1-7181-513A-CD49-FE27C1B37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1105" t="13080" r="-552" b="422"/>
            <a:stretch>
              <a:fillRect/>
            </a:stretch>
          </p:blipFill>
          <p:spPr>
            <a:xfrm>
              <a:off x="4018753" y="2310005"/>
              <a:ext cx="895976" cy="926168"/>
            </a:xfrm>
            <a:prstGeom prst="ellipse">
              <a:avLst/>
            </a:prstGeom>
            <a:effectLst>
              <a:outerShdw blurRad="50800" dist="38100" dir="2700000">
                <a:srgbClr val="000000">
                  <a:alpha val="40000"/>
                </a:srgbClr>
              </a:outerShdw>
            </a:effectLst>
          </p:spPr>
        </p:pic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412D8758-EBB7-09AC-DE77-86F48D596E24}"/>
                </a:ext>
              </a:extLst>
            </p:cNvPr>
            <p:cNvSpPr txBox="1"/>
            <p:nvPr/>
          </p:nvSpPr>
          <p:spPr>
            <a:xfrm>
              <a:off x="5151851" y="3206658"/>
              <a:ext cx="188963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Varun Singhal</a:t>
              </a:r>
            </a:p>
          </p:txBody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C5A2BA83-8C16-F476-BA10-0F5C5C75B5C9}"/>
                </a:ext>
              </a:extLst>
            </p:cNvPr>
            <p:cNvSpPr txBox="1"/>
            <p:nvPr/>
          </p:nvSpPr>
          <p:spPr>
            <a:xfrm>
              <a:off x="5064764" y="3467913"/>
              <a:ext cx="2063801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180 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Browallia New"/>
                </a:rPr>
                <a:t>DC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 BIT MESRA</a:t>
              </a: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B2C243B9-CF19-1CEA-7AAA-B05F053CEDA9}"/>
                </a:ext>
              </a:extLst>
            </p:cNvPr>
            <p:cNvSpPr txBox="1"/>
            <p:nvPr/>
          </p:nvSpPr>
          <p:spPr>
            <a:xfrm>
              <a:off x="6762936" y="3242943"/>
              <a:ext cx="234683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Yasmin </a:t>
              </a:r>
              <a:r>
                <a:rPr lang="en-US" sz="1400" err="1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Almumtazah</a:t>
              </a:r>
              <a:endParaRPr lang="en-US" sz="1400">
                <a:solidFill>
                  <a:schemeClr val="bg1"/>
                </a:solidFill>
                <a:latin typeface="Aptos Display"/>
                <a:ea typeface="Calibri"/>
                <a:cs typeface="Calibri"/>
              </a:endParaRP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524BD8DA-C33F-22B4-A8DB-035F42A9C4C4}"/>
                </a:ext>
              </a:extLst>
            </p:cNvPr>
            <p:cNvSpPr txBox="1"/>
            <p:nvPr/>
          </p:nvSpPr>
          <p:spPr>
            <a:xfrm>
              <a:off x="6820992" y="3475169"/>
              <a:ext cx="2063801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180 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Browallia New"/>
                </a:rPr>
                <a:t>DC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 Univ. </a:t>
              </a:r>
              <a:r>
                <a:rPr lang="en-US" sz="1200" err="1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Brawijaya</a:t>
              </a:r>
              <a:endParaRPr lang="id-ID">
                <a:solidFill>
                  <a:schemeClr val="bg1"/>
                </a:solidFill>
              </a:endParaRPr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DC7B663B-1886-EE0D-4117-697EBA022C4D}"/>
                </a:ext>
              </a:extLst>
            </p:cNvPr>
            <p:cNvSpPr txBox="1"/>
            <p:nvPr/>
          </p:nvSpPr>
          <p:spPr>
            <a:xfrm>
              <a:off x="8707850" y="3192142"/>
              <a:ext cx="234683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Aptos"/>
                  <a:ea typeface="Calibri"/>
                  <a:cs typeface="Calibri"/>
                </a:rPr>
                <a:t>Amira </a:t>
              </a:r>
              <a:r>
                <a:rPr lang="en-US" sz="1400" err="1">
                  <a:solidFill>
                    <a:schemeClr val="bg1"/>
                  </a:solidFill>
                  <a:latin typeface="Aptos"/>
                  <a:ea typeface="Calibri"/>
                  <a:cs typeface="Calibri"/>
                </a:rPr>
                <a:t>SuhaylaPurba</a:t>
              </a:r>
              <a:endParaRPr lang="en-US" sz="1400">
                <a:solidFill>
                  <a:schemeClr val="bg1"/>
                </a:solidFill>
                <a:latin typeface="Aptos"/>
                <a:ea typeface="Calibri"/>
                <a:cs typeface="Calibri"/>
              </a:endParaRPr>
            </a:p>
            <a:p>
              <a:pPr algn="ctr"/>
              <a:endParaRPr lang="en-US" sz="1400">
                <a:solidFill>
                  <a:schemeClr val="bg1"/>
                </a:solidFill>
                <a:latin typeface="Aptos"/>
                <a:ea typeface="Calibri"/>
                <a:cs typeface="Calibri"/>
              </a:endParaRPr>
            </a:p>
          </p:txBody>
        </p:sp>
        <p:sp>
          <p:nvSpPr>
            <p:cNvPr id="35" name="TextBox 7">
              <a:extLst>
                <a:ext uri="{FF2B5EF4-FFF2-40B4-BE49-F238E27FC236}">
                  <a16:creationId xmlns:a16="http://schemas.microsoft.com/office/drawing/2014/main" id="{60302ABE-D062-46BB-CE0D-067E4A878E08}"/>
                </a:ext>
              </a:extLst>
            </p:cNvPr>
            <p:cNvSpPr txBox="1"/>
            <p:nvPr/>
          </p:nvSpPr>
          <p:spPr>
            <a:xfrm>
              <a:off x="8852991" y="3431625"/>
              <a:ext cx="2063801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180 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Browallia New"/>
                </a:rPr>
                <a:t>DC</a:t>
              </a:r>
              <a:r>
                <a:rPr lang="en-US" sz="1200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 Univ. </a:t>
              </a:r>
              <a:r>
                <a:rPr lang="en-US" sz="1200" err="1">
                  <a:solidFill>
                    <a:schemeClr val="bg1"/>
                  </a:solidFill>
                  <a:latin typeface="Aptos Display"/>
                  <a:ea typeface="Calibri"/>
                  <a:cs typeface="Calibri"/>
                </a:rPr>
                <a:t>Brawijaya</a:t>
              </a:r>
              <a:endParaRPr lang="id-ID">
                <a:solidFill>
                  <a:schemeClr val="bg1"/>
                </a:solidFill>
              </a:endParaRPr>
            </a:p>
          </p:txBody>
        </p:sp>
      </p:grpSp>
      <p:sp>
        <p:nvSpPr>
          <p:cNvPr id="39" name="Kotak Teks 38">
            <a:extLst>
              <a:ext uri="{FF2B5EF4-FFF2-40B4-BE49-F238E27FC236}">
                <a16:creationId xmlns:a16="http://schemas.microsoft.com/office/drawing/2014/main" id="{862273B8-3E27-3101-938C-4EC3906A9FF1}"/>
              </a:ext>
            </a:extLst>
          </p:cNvPr>
          <p:cNvSpPr txBox="1"/>
          <p:nvPr/>
        </p:nvSpPr>
        <p:spPr>
          <a:xfrm>
            <a:off x="6952013" y="2791360"/>
            <a:ext cx="523965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d-ID" sz="5000" b="1">
                <a:solidFill>
                  <a:schemeClr val="bg1"/>
                </a:solidFill>
                <a:latin typeface="Aptos Display"/>
                <a:ea typeface="+mn-lt"/>
                <a:cs typeface="Kartika"/>
              </a:rPr>
              <a:t>The Road to FIFA Mission 2047</a:t>
            </a:r>
            <a:endParaRPr lang="id-ID" sz="5000" b="1">
              <a:solidFill>
                <a:schemeClr val="bg1"/>
              </a:solidFill>
              <a:latin typeface="Aptos Display"/>
              <a:cs typeface="Kartika"/>
            </a:endParaRPr>
          </a:p>
        </p:txBody>
      </p:sp>
      <p:sp>
        <p:nvSpPr>
          <p:cNvPr id="45" name="Kotak Teks 44">
            <a:extLst>
              <a:ext uri="{FF2B5EF4-FFF2-40B4-BE49-F238E27FC236}">
                <a16:creationId xmlns:a16="http://schemas.microsoft.com/office/drawing/2014/main" id="{6F59140D-2BF9-1A4D-DDB4-CF3E65A398E0}"/>
              </a:ext>
            </a:extLst>
          </p:cNvPr>
          <p:cNvSpPr txBox="1"/>
          <p:nvPr/>
        </p:nvSpPr>
        <p:spPr>
          <a:xfrm>
            <a:off x="6977688" y="2388142"/>
            <a:ext cx="59726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d-ID" sz="2800" i="1">
                <a:solidFill>
                  <a:srgbClr val="FAEB8F"/>
                </a:solidFill>
                <a:latin typeface="Cambria"/>
                <a:ea typeface="Cambria"/>
                <a:cs typeface="+mn-lt"/>
              </a:rPr>
              <a:t>Elevating Indian Football</a:t>
            </a:r>
            <a:endParaRPr lang="id-ID" sz="2800" i="1">
              <a:solidFill>
                <a:srgbClr val="FAEB8F"/>
              </a:solidFill>
              <a:latin typeface="Cambria"/>
              <a:ea typeface="Cambria"/>
            </a:endParaRPr>
          </a:p>
        </p:txBody>
      </p:sp>
      <p:sp>
        <p:nvSpPr>
          <p:cNvPr id="46" name="Kotak Teks 45">
            <a:extLst>
              <a:ext uri="{FF2B5EF4-FFF2-40B4-BE49-F238E27FC236}">
                <a16:creationId xmlns:a16="http://schemas.microsoft.com/office/drawing/2014/main" id="{F9A86B96-F5BB-B7D9-FBD9-6988E80C3D98}"/>
              </a:ext>
            </a:extLst>
          </p:cNvPr>
          <p:cNvSpPr txBox="1"/>
          <p:nvPr/>
        </p:nvSpPr>
        <p:spPr>
          <a:xfrm>
            <a:off x="3573" y="4797512"/>
            <a:ext cx="59726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d-ID" sz="2000">
                <a:solidFill>
                  <a:srgbClr val="FAEB8F"/>
                </a:solidFill>
                <a:latin typeface="Cambria"/>
                <a:ea typeface="Cambria"/>
                <a:cs typeface="Calibri"/>
              </a:rPr>
              <a:t>Proposed by: Catalyst</a:t>
            </a:r>
          </a:p>
        </p:txBody>
      </p:sp>
    </p:spTree>
    <p:extLst>
      <p:ext uri="{BB962C8B-B14F-4D97-AF65-F5344CB8AC3E}">
        <p14:creationId xmlns:p14="http://schemas.microsoft.com/office/powerpoint/2010/main" val="422288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3734429B-698C-47E1-97FE-BE30944C6EB8}"/>
              </a:ext>
            </a:extLst>
          </p:cNvPr>
          <p:cNvSpPr/>
          <p:nvPr/>
        </p:nvSpPr>
        <p:spPr>
          <a:xfrm>
            <a:off x="1469571" y="5101772"/>
            <a:ext cx="2269671" cy="1005113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28" name="Grup 27">
            <a:extLst>
              <a:ext uri="{FF2B5EF4-FFF2-40B4-BE49-F238E27FC236}">
                <a16:creationId xmlns:a16="http://schemas.microsoft.com/office/drawing/2014/main" id="{61C83E55-CF11-64E6-EC6D-54330EC8CDAB}"/>
              </a:ext>
            </a:extLst>
          </p:cNvPr>
          <p:cNvGrpSpPr/>
          <p:nvPr/>
        </p:nvGrpSpPr>
        <p:grpSpPr>
          <a:xfrm>
            <a:off x="5765" y="58924"/>
            <a:ext cx="12187729" cy="807876"/>
            <a:chOff x="5765" y="58924"/>
            <a:chExt cx="12187729" cy="807876"/>
          </a:xfrm>
        </p:grpSpPr>
        <p:cxnSp>
          <p:nvCxnSpPr>
            <p:cNvPr id="4" name="Konektor Panah Lurus 3">
              <a:extLst>
                <a:ext uri="{FF2B5EF4-FFF2-40B4-BE49-F238E27FC236}">
                  <a16:creationId xmlns:a16="http://schemas.microsoft.com/office/drawing/2014/main" id="{C889EFE8-84AF-2844-C508-4C92083EE71A}"/>
                </a:ext>
              </a:extLst>
            </p:cNvPr>
            <p:cNvCxnSpPr/>
            <p:nvPr/>
          </p:nvCxnSpPr>
          <p:spPr>
            <a:xfrm flipV="1">
              <a:off x="5765" y="841189"/>
              <a:ext cx="12187729" cy="25611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10">
              <a:extLst>
                <a:ext uri="{FF2B5EF4-FFF2-40B4-BE49-F238E27FC236}">
                  <a16:creationId xmlns:a16="http://schemas.microsoft.com/office/drawing/2014/main" id="{46801B33-D162-2803-6EC7-BA3A03736BCE}"/>
                </a:ext>
              </a:extLst>
            </p:cNvPr>
            <p:cNvGrpSpPr/>
            <p:nvPr/>
          </p:nvGrpSpPr>
          <p:grpSpPr>
            <a:xfrm>
              <a:off x="9960584" y="58924"/>
              <a:ext cx="2231809" cy="689350"/>
              <a:chOff x="10171041" y="867"/>
              <a:chExt cx="2347923" cy="805464"/>
            </a:xfrm>
          </p:grpSpPr>
          <p:sp>
            <p:nvSpPr>
              <p:cNvPr id="3" name="Bagan alur: Proses Pengganti 2">
                <a:extLst>
                  <a:ext uri="{FF2B5EF4-FFF2-40B4-BE49-F238E27FC236}">
                    <a16:creationId xmlns:a16="http://schemas.microsoft.com/office/drawing/2014/main" id="{0DB89874-29A1-FAF7-E45D-E00F165A006B}"/>
                  </a:ext>
                </a:extLst>
              </p:cNvPr>
              <p:cNvSpPr/>
              <p:nvPr/>
            </p:nvSpPr>
            <p:spPr>
              <a:xfrm>
                <a:off x="10171041" y="867"/>
                <a:ext cx="2347923" cy="805464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grpSp>
            <p:nvGrpSpPr>
              <p:cNvPr id="6" name="Group 1">
                <a:extLst>
                  <a:ext uri="{FF2B5EF4-FFF2-40B4-BE49-F238E27FC236}">
                    <a16:creationId xmlns:a16="http://schemas.microsoft.com/office/drawing/2014/main" id="{97CB1735-1DAC-B40E-819B-F90F9ABADA23}"/>
                  </a:ext>
                </a:extLst>
              </p:cNvPr>
              <p:cNvGrpSpPr/>
              <p:nvPr/>
            </p:nvGrpSpPr>
            <p:grpSpPr>
              <a:xfrm>
                <a:off x="10574261" y="42750"/>
                <a:ext cx="1338581" cy="718767"/>
                <a:chOff x="4761287" y="108061"/>
                <a:chExt cx="2659382" cy="1292084"/>
              </a:xfrm>
            </p:grpSpPr>
            <p:grpSp>
              <p:nvGrpSpPr>
                <p:cNvPr id="7" name="Group 2">
                  <a:extLst>
                    <a:ext uri="{FF2B5EF4-FFF2-40B4-BE49-F238E27FC236}">
                      <a16:creationId xmlns:a16="http://schemas.microsoft.com/office/drawing/2014/main" id="{C81E56AB-894E-DA5D-5428-384140D4FD01}"/>
                    </a:ext>
                  </a:extLst>
                </p:cNvPr>
                <p:cNvGrpSpPr/>
                <p:nvPr/>
              </p:nvGrpSpPr>
              <p:grpSpPr>
                <a:xfrm>
                  <a:off x="4761287" y="120952"/>
                  <a:ext cx="2659382" cy="1279193"/>
                  <a:chOff x="4761287" y="120950"/>
                  <a:chExt cx="11244549" cy="5571062"/>
                </a:xfrm>
              </p:grpSpPr>
              <p:pic>
                <p:nvPicPr>
                  <p:cNvPr id="9" name="Picture 5" descr="Home | 180 Degrees Consulting UniMelb, Australia">
                    <a:extLst>
                      <a:ext uri="{FF2B5EF4-FFF2-40B4-BE49-F238E27FC236}">
                        <a16:creationId xmlns:a16="http://schemas.microsoft.com/office/drawing/2014/main" id="{8A2F2C2B-FBD8-5E91-0E30-53DAC897D0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761287" y="120950"/>
                    <a:ext cx="5111450" cy="5571062"/>
                  </a:xfrm>
                  <a:prstGeom prst="rect">
                    <a:avLst/>
                  </a:prstGeom>
                </p:spPr>
              </p:pic>
              <p:pic>
                <p:nvPicPr>
                  <p:cNvPr id="10" name="Picture 10" descr="Birla Institute of Technology, Mesra - Wikipedia">
                    <a:extLst>
                      <a:ext uri="{FF2B5EF4-FFF2-40B4-BE49-F238E27FC236}">
                        <a16:creationId xmlns:a16="http://schemas.microsoft.com/office/drawing/2014/main" id="{179ACEBB-09E6-8E80-DDB0-511822B58E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0714169" y="247679"/>
                    <a:ext cx="5291667" cy="5191193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8" name="Straight Arrow Connector 3">
                  <a:extLst>
                    <a:ext uri="{FF2B5EF4-FFF2-40B4-BE49-F238E27FC236}">
                      <a16:creationId xmlns:a16="http://schemas.microsoft.com/office/drawing/2014/main" id="{7FDD7002-9D2D-2720-1E72-D3A6FFE44ADD}"/>
                    </a:ext>
                  </a:extLst>
                </p:cNvPr>
                <p:cNvCxnSpPr/>
                <p:nvPr/>
              </p:nvCxnSpPr>
              <p:spPr>
                <a:xfrm flipH="1" flipV="1">
                  <a:off x="6094327" y="108061"/>
                  <a:ext cx="6152" cy="12897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" name="Kotak Teks 14">
              <a:extLst>
                <a:ext uri="{FF2B5EF4-FFF2-40B4-BE49-F238E27FC236}">
                  <a16:creationId xmlns:a16="http://schemas.microsoft.com/office/drawing/2014/main" id="{6F943F88-1EC5-6978-92EE-70224FE86F47}"/>
                </a:ext>
              </a:extLst>
            </p:cNvPr>
            <p:cNvSpPr txBox="1"/>
            <p:nvPr/>
          </p:nvSpPr>
          <p:spPr>
            <a:xfrm>
              <a:off x="558471" y="157017"/>
              <a:ext cx="6894285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id-ID" sz="3600" b="1">
                  <a:solidFill>
                    <a:schemeClr val="accent5">
                      <a:lumMod val="49000"/>
                    </a:schemeClr>
                  </a:solidFill>
                  <a:latin typeface="Aptos Display"/>
                  <a:ea typeface="Calibri"/>
                  <a:cs typeface="Kartika"/>
                </a:rPr>
                <a:t>Executive Summary</a:t>
              </a:r>
              <a:endParaRPr lang="id-ID" sz="3600">
                <a:solidFill>
                  <a:schemeClr val="accent5">
                    <a:lumMod val="49000"/>
                  </a:schemeClr>
                </a:solidFill>
                <a:ea typeface="Calibri"/>
                <a:cs typeface="Calibri"/>
              </a:endParaRPr>
            </a:p>
          </p:txBody>
        </p:sp>
      </p:grpSp>
      <p:sp>
        <p:nvSpPr>
          <p:cNvPr id="40" name="Kotak Teks 39">
            <a:extLst>
              <a:ext uri="{FF2B5EF4-FFF2-40B4-BE49-F238E27FC236}">
                <a16:creationId xmlns:a16="http://schemas.microsoft.com/office/drawing/2014/main" id="{59C8466B-4E0C-760E-600B-805FA76F5BF0}"/>
              </a:ext>
            </a:extLst>
          </p:cNvPr>
          <p:cNvSpPr txBox="1"/>
          <p:nvPr/>
        </p:nvSpPr>
        <p:spPr>
          <a:xfrm>
            <a:off x="8127671" y="1209302"/>
            <a:ext cx="34326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rgbClr val="000000"/>
                </a:solidFill>
                <a:latin typeface="Aptos Display"/>
                <a:ea typeface="Calibri"/>
                <a:cs typeface="Calibri"/>
              </a:rPr>
              <a:t>THE 2046 CONVERGENCE THESIS</a:t>
            </a:r>
            <a:endParaRPr lang="id-ID" sz="16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algn="ctr"/>
            <a:endParaRPr lang="id-ID" sz="1600" b="1">
              <a:solidFill>
                <a:schemeClr val="accent5">
                  <a:lumMod val="49000"/>
                </a:schemeClr>
              </a:solidFill>
              <a:latin typeface="Aptos Display"/>
              <a:ea typeface="Calibri"/>
              <a:cs typeface="Kartika"/>
            </a:endParaRP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CEA4583B-8085-C5D1-25D7-3661CB647009}"/>
              </a:ext>
            </a:extLst>
          </p:cNvPr>
          <p:cNvSpPr/>
          <p:nvPr/>
        </p:nvSpPr>
        <p:spPr>
          <a:xfrm>
            <a:off x="8146869" y="1619794"/>
            <a:ext cx="3428709" cy="341086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  <a:latin typeface="Aptos"/>
                <a:ea typeface="Calibri"/>
                <a:cs typeface="Calibri"/>
              </a:rPr>
              <a:t>Hosting eligibility </a:t>
            </a:r>
            <a:r>
              <a:rPr lang="en-US" sz="1600" b="1">
                <a:solidFill>
                  <a:schemeClr val="bg1"/>
                </a:solidFill>
                <a:latin typeface="Aptos"/>
                <a:ea typeface="Calibri" pitchFamily="34" charset="-122"/>
                <a:cs typeface="Calibri" pitchFamily="34" charset="-120"/>
              </a:rPr>
              <a:t>reopens</a:t>
            </a:r>
            <a:endParaRPr lang="en-US" sz="1600">
              <a:solidFill>
                <a:schemeClr val="bg1"/>
              </a:solidFill>
              <a:latin typeface="Aptos"/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210BB524-DB60-A9A6-0C54-51841E4B392E}"/>
              </a:ext>
            </a:extLst>
          </p:cNvPr>
          <p:cNvSpPr/>
          <p:nvPr/>
        </p:nvSpPr>
        <p:spPr>
          <a:xfrm>
            <a:off x="8139612" y="1965192"/>
            <a:ext cx="3428709" cy="738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>
                <a:latin typeface="Aptos Display"/>
                <a:ea typeface="Calibri"/>
                <a:cs typeface="Calibri"/>
              </a:rPr>
              <a:t>AFC's earliest plausible World Cup hosting turn, after Saudi Arabia's 2034 edition, is 2042 at best, more likely 2046 given F</a:t>
            </a:r>
            <a:r>
              <a:rPr lang="en-US" sz="1100" b="1">
                <a:latin typeface="Aptos Display"/>
                <a:ea typeface="Calibri"/>
                <a:cs typeface="Calibri"/>
              </a:rPr>
              <a:t>IFA's multi-cycle continental rotation.</a:t>
            </a:r>
          </a:p>
        </p:txBody>
      </p:sp>
      <p:cxnSp>
        <p:nvCxnSpPr>
          <p:cNvPr id="49" name="Konektor Panah Lurus 48">
            <a:extLst>
              <a:ext uri="{FF2B5EF4-FFF2-40B4-BE49-F238E27FC236}">
                <a16:creationId xmlns:a16="http://schemas.microsoft.com/office/drawing/2014/main" id="{BC79C605-ECE9-44AA-EBCC-AAEE57616344}"/>
              </a:ext>
            </a:extLst>
          </p:cNvPr>
          <p:cNvCxnSpPr>
            <a:cxnSpLocks/>
          </p:cNvCxnSpPr>
          <p:nvPr/>
        </p:nvCxnSpPr>
        <p:spPr>
          <a:xfrm>
            <a:off x="7974107" y="1106285"/>
            <a:ext cx="24759" cy="439398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up 61">
            <a:extLst>
              <a:ext uri="{FF2B5EF4-FFF2-40B4-BE49-F238E27FC236}">
                <a16:creationId xmlns:a16="http://schemas.microsoft.com/office/drawing/2014/main" id="{CDE7C148-6B34-1D18-13F2-1EB04EADED80}"/>
              </a:ext>
            </a:extLst>
          </p:cNvPr>
          <p:cNvGrpSpPr/>
          <p:nvPr/>
        </p:nvGrpSpPr>
        <p:grpSpPr>
          <a:xfrm>
            <a:off x="377371" y="1207050"/>
            <a:ext cx="7558899" cy="4010812"/>
            <a:chOff x="406400" y="1178022"/>
            <a:chExt cx="8400727" cy="4451505"/>
          </a:xfrm>
        </p:grpSpPr>
        <p:sp>
          <p:nvSpPr>
            <p:cNvPr id="17" name="Persegi Panjang: Sudut Lengkung 16">
              <a:extLst>
                <a:ext uri="{FF2B5EF4-FFF2-40B4-BE49-F238E27FC236}">
                  <a16:creationId xmlns:a16="http://schemas.microsoft.com/office/drawing/2014/main" id="{A98B797E-5495-CE35-8EC1-F3987538540A}"/>
                </a:ext>
              </a:extLst>
            </p:cNvPr>
            <p:cNvSpPr/>
            <p:nvPr/>
          </p:nvSpPr>
          <p:spPr>
            <a:xfrm>
              <a:off x="608337" y="2135964"/>
              <a:ext cx="2149375" cy="1414827"/>
            </a:xfrm>
            <a:prstGeom prst="roundRect">
              <a:avLst/>
            </a:prstGeom>
            <a:solidFill>
              <a:srgbClr val="97AE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id-ID" sz="2000" b="1">
                  <a:latin typeface="Aptos Display"/>
                  <a:ea typeface="Calibri"/>
                  <a:cs typeface="Calibri"/>
                </a:rPr>
                <a:t>Complication</a:t>
              </a:r>
            </a:p>
          </p:txBody>
        </p:sp>
        <p:sp>
          <p:nvSpPr>
            <p:cNvPr id="19" name="Persegi Panjang: Sudut Lengkung 18">
              <a:extLst>
                <a:ext uri="{FF2B5EF4-FFF2-40B4-BE49-F238E27FC236}">
                  <a16:creationId xmlns:a16="http://schemas.microsoft.com/office/drawing/2014/main" id="{7C3EC2E2-32EB-B3C1-EE83-487D793B350F}"/>
                </a:ext>
              </a:extLst>
            </p:cNvPr>
            <p:cNvSpPr/>
            <p:nvPr/>
          </p:nvSpPr>
          <p:spPr>
            <a:xfrm>
              <a:off x="622849" y="4581620"/>
              <a:ext cx="2149375" cy="710885"/>
            </a:xfrm>
            <a:prstGeom prst="roundRect">
              <a:avLst/>
            </a:prstGeom>
            <a:solidFill>
              <a:srgbClr val="97AE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id-ID" sz="2400" b="1">
                  <a:latin typeface="Aptos Display"/>
                  <a:ea typeface="Calibri"/>
                  <a:cs typeface="Calibri"/>
                </a:rPr>
                <a:t>Answer</a:t>
              </a:r>
            </a:p>
          </p:txBody>
        </p:sp>
        <p:grpSp>
          <p:nvGrpSpPr>
            <p:cNvPr id="37" name="Grup 36">
              <a:extLst>
                <a:ext uri="{FF2B5EF4-FFF2-40B4-BE49-F238E27FC236}">
                  <a16:creationId xmlns:a16="http://schemas.microsoft.com/office/drawing/2014/main" id="{5870F713-9D68-8A0E-40D2-25D2CE0DE97F}"/>
                </a:ext>
              </a:extLst>
            </p:cNvPr>
            <p:cNvGrpSpPr/>
            <p:nvPr/>
          </p:nvGrpSpPr>
          <p:grpSpPr>
            <a:xfrm>
              <a:off x="608338" y="1178022"/>
              <a:ext cx="8071201" cy="841881"/>
              <a:chOff x="920395" y="1294136"/>
              <a:chExt cx="8071201" cy="841881"/>
            </a:xfrm>
          </p:grpSpPr>
          <p:sp>
            <p:nvSpPr>
              <p:cNvPr id="20" name="Persegi Panjang 19">
                <a:extLst>
                  <a:ext uri="{FF2B5EF4-FFF2-40B4-BE49-F238E27FC236}">
                    <a16:creationId xmlns:a16="http://schemas.microsoft.com/office/drawing/2014/main" id="{B5873564-29EE-7E37-2342-5CD6A46ABA84}"/>
                  </a:ext>
                </a:extLst>
              </p:cNvPr>
              <p:cNvSpPr/>
              <p:nvPr/>
            </p:nvSpPr>
            <p:spPr>
              <a:xfrm>
                <a:off x="2820189" y="1360397"/>
                <a:ext cx="6169200" cy="765155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6" name="Persegi Panjang: Sudut Lengkung 15">
                <a:extLst>
                  <a:ext uri="{FF2B5EF4-FFF2-40B4-BE49-F238E27FC236}">
                    <a16:creationId xmlns:a16="http://schemas.microsoft.com/office/drawing/2014/main" id="{BEADF445-8977-963D-CEBF-38A05260FAF6}"/>
                  </a:ext>
                </a:extLst>
              </p:cNvPr>
              <p:cNvSpPr/>
              <p:nvPr/>
            </p:nvSpPr>
            <p:spPr>
              <a:xfrm>
                <a:off x="920395" y="1294136"/>
                <a:ext cx="2134861" cy="841515"/>
              </a:xfrm>
              <a:prstGeom prst="roundRect">
                <a:avLst/>
              </a:prstGeom>
              <a:solidFill>
                <a:srgbClr val="97AE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2400" b="1">
                    <a:latin typeface="Aptos Display"/>
                    <a:ea typeface="Calibri"/>
                    <a:cs typeface="Calibri"/>
                  </a:rPr>
                  <a:t>Situation</a:t>
                </a:r>
                <a:endParaRPr lang="id-ID" sz="2400" b="1">
                  <a:latin typeface="Aptos Display"/>
                </a:endParaRPr>
              </a:p>
            </p:txBody>
          </p:sp>
          <p:sp>
            <p:nvSpPr>
              <p:cNvPr id="21" name="Kotak Teks 20">
                <a:extLst>
                  <a:ext uri="{FF2B5EF4-FFF2-40B4-BE49-F238E27FC236}">
                    <a16:creationId xmlns:a16="http://schemas.microsoft.com/office/drawing/2014/main" id="{3C71848A-23F2-DDBF-A792-B91769BF52BD}"/>
                  </a:ext>
                </a:extLst>
              </p:cNvPr>
              <p:cNvSpPr txBox="1"/>
              <p:nvPr/>
            </p:nvSpPr>
            <p:spPr>
              <a:xfrm>
                <a:off x="3084285" y="1397353"/>
                <a:ext cx="5907311" cy="73866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latin typeface="Aptos"/>
                    <a:ea typeface="Calibri"/>
                    <a:cs typeface="Calibri"/>
                  </a:rPr>
                  <a:t>India has </a:t>
                </a:r>
                <a:r>
                  <a:rPr lang="en-US" sz="1200" b="1">
                    <a:latin typeface="Aptos"/>
                    <a:ea typeface="Calibri"/>
                    <a:cs typeface="Calibri"/>
                  </a:rPr>
                  <a:t>never qualified</a:t>
                </a:r>
                <a:r>
                  <a:rPr lang="en-US" sz="1200">
                    <a:latin typeface="Aptos"/>
                    <a:ea typeface="Calibri"/>
                    <a:cs typeface="Calibri"/>
                  </a:rPr>
                  <a:t> for a FIFA World Cup and ranks 127th globally in 2026, worse than its own 1995 ranking of 94</a:t>
                </a:r>
                <a:r>
                  <a:rPr lang="en-US" sz="1200" baseline="30000">
                    <a:latin typeface="Aptos"/>
                    <a:ea typeface="Calibri"/>
                    <a:cs typeface="Calibri"/>
                  </a:rPr>
                  <a:t>th</a:t>
                </a:r>
                <a:r>
                  <a:rPr lang="en-US" sz="1200">
                    <a:latin typeface="Aptos"/>
                    <a:ea typeface="Calibri"/>
                    <a:cs typeface="Calibri"/>
                  </a:rPr>
                  <a:t>, despite three decades of federation roadmaps.</a:t>
                </a:r>
                <a:endParaRPr lang="id-ID" sz="1200">
                  <a:latin typeface="Aptos"/>
                  <a:ea typeface="Calibri"/>
                  <a:cs typeface="Calibri"/>
                </a:endParaRPr>
              </a:p>
            </p:txBody>
          </p:sp>
        </p:grpSp>
        <p:grpSp>
          <p:nvGrpSpPr>
            <p:cNvPr id="38" name="Grup 37">
              <a:extLst>
                <a:ext uri="{FF2B5EF4-FFF2-40B4-BE49-F238E27FC236}">
                  <a16:creationId xmlns:a16="http://schemas.microsoft.com/office/drawing/2014/main" id="{E81F4CCB-4861-87F9-C58C-6DDBEFA5EC7A}"/>
                </a:ext>
              </a:extLst>
            </p:cNvPr>
            <p:cNvGrpSpPr/>
            <p:nvPr/>
          </p:nvGrpSpPr>
          <p:grpSpPr>
            <a:xfrm>
              <a:off x="608335" y="3674478"/>
              <a:ext cx="8047225" cy="761685"/>
              <a:chOff x="680906" y="3776078"/>
              <a:chExt cx="8047225" cy="761685"/>
            </a:xfrm>
          </p:grpSpPr>
          <p:sp>
            <p:nvSpPr>
              <p:cNvPr id="24" name="Persegi Panjang 23">
                <a:extLst>
                  <a:ext uri="{FF2B5EF4-FFF2-40B4-BE49-F238E27FC236}">
                    <a16:creationId xmlns:a16="http://schemas.microsoft.com/office/drawing/2014/main" id="{E9E4E511-A654-27A1-F45D-A92B4CBC1504}"/>
                  </a:ext>
                </a:extLst>
              </p:cNvPr>
              <p:cNvSpPr/>
              <p:nvPr/>
            </p:nvSpPr>
            <p:spPr>
              <a:xfrm>
                <a:off x="2798413" y="3784281"/>
                <a:ext cx="5929718" cy="728870"/>
              </a:xfrm>
              <a:prstGeom prst="rect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" name="Persegi Panjang: Sudut Lengkung 17">
                <a:extLst>
                  <a:ext uri="{FF2B5EF4-FFF2-40B4-BE49-F238E27FC236}">
                    <a16:creationId xmlns:a16="http://schemas.microsoft.com/office/drawing/2014/main" id="{C2B141A4-8E41-16A1-B278-216CDAB2714B}"/>
                  </a:ext>
                </a:extLst>
              </p:cNvPr>
              <p:cNvSpPr/>
              <p:nvPr/>
            </p:nvSpPr>
            <p:spPr>
              <a:xfrm>
                <a:off x="680906" y="3776078"/>
                <a:ext cx="2120347" cy="761685"/>
              </a:xfrm>
              <a:prstGeom prst="roundRect">
                <a:avLst/>
              </a:prstGeom>
              <a:solidFill>
                <a:srgbClr val="97AE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id-ID" sz="2400" b="1">
                    <a:latin typeface="Aptos Display"/>
                    <a:ea typeface="Calibri"/>
                    <a:cs typeface="Calibri"/>
                  </a:rPr>
                  <a:t>Question</a:t>
                </a:r>
              </a:p>
            </p:txBody>
          </p:sp>
          <p:sp>
            <p:nvSpPr>
              <p:cNvPr id="26" name="Kotak Teks 25">
                <a:extLst>
                  <a:ext uri="{FF2B5EF4-FFF2-40B4-BE49-F238E27FC236}">
                    <a16:creationId xmlns:a16="http://schemas.microsoft.com/office/drawing/2014/main" id="{A716A79E-5CF2-3512-3FC5-122B5A7CE3EB}"/>
                  </a:ext>
                </a:extLst>
              </p:cNvPr>
              <p:cNvSpPr txBox="1"/>
              <p:nvPr/>
            </p:nvSpPr>
            <p:spPr>
              <a:xfrm>
                <a:off x="2801255" y="3893810"/>
                <a:ext cx="5769425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chemeClr val="bg1"/>
                    </a:solidFill>
                    <a:latin typeface="Aptos Display"/>
                    <a:ea typeface="Calibri"/>
                    <a:cs typeface="Calibri"/>
                  </a:rPr>
                  <a:t>Which </a:t>
                </a:r>
                <a:r>
                  <a:rPr lang="en-US" sz="1200" b="1">
                    <a:solidFill>
                      <a:schemeClr val="bg1"/>
                    </a:solidFill>
                    <a:latin typeface="Aptos Display"/>
                    <a:ea typeface="Calibri"/>
                    <a:cs typeface="Calibri"/>
                  </a:rPr>
                  <a:t>single objective </a:t>
                </a:r>
                <a:r>
                  <a:rPr lang="en-US" sz="1200">
                    <a:solidFill>
                      <a:schemeClr val="bg1"/>
                    </a:solidFill>
                    <a:latin typeface="Aptos Display"/>
                    <a:ea typeface="Calibri"/>
                    <a:cs typeface="Calibri"/>
                  </a:rPr>
                  <a:t>should India commit to by 2030, qualification, hosting, or  Olympic success, and how should it be funded, sequenced, and hosted?</a:t>
                </a:r>
                <a:endParaRPr lang="id-ID" sz="1200">
                  <a:solidFill>
                    <a:schemeClr val="bg1"/>
                  </a:solidFill>
                  <a:latin typeface="Aptos Display"/>
                </a:endParaRPr>
              </a:p>
            </p:txBody>
          </p:sp>
        </p:grpSp>
        <p:grpSp>
          <p:nvGrpSpPr>
            <p:cNvPr id="36" name="Grup 35">
              <a:extLst>
                <a:ext uri="{FF2B5EF4-FFF2-40B4-BE49-F238E27FC236}">
                  <a16:creationId xmlns:a16="http://schemas.microsoft.com/office/drawing/2014/main" id="{8C09F210-CE83-A523-41B6-9140803177C9}"/>
                </a:ext>
              </a:extLst>
            </p:cNvPr>
            <p:cNvGrpSpPr/>
            <p:nvPr/>
          </p:nvGrpSpPr>
          <p:grpSpPr>
            <a:xfrm>
              <a:off x="5783941" y="2153030"/>
              <a:ext cx="3023186" cy="1412457"/>
              <a:chOff x="6335484" y="2436058"/>
              <a:chExt cx="3023186" cy="1412457"/>
            </a:xfrm>
          </p:grpSpPr>
          <p:sp>
            <p:nvSpPr>
              <p:cNvPr id="29" name="Persegi Panjang: Sudut Lengkung 28">
                <a:extLst>
                  <a:ext uri="{FF2B5EF4-FFF2-40B4-BE49-F238E27FC236}">
                    <a16:creationId xmlns:a16="http://schemas.microsoft.com/office/drawing/2014/main" id="{48DB5AE2-91C1-C182-5C40-76AE9FCDDE40}"/>
                  </a:ext>
                </a:extLst>
              </p:cNvPr>
              <p:cNvSpPr/>
              <p:nvPr/>
            </p:nvSpPr>
            <p:spPr>
              <a:xfrm>
                <a:off x="6343327" y="2436058"/>
                <a:ext cx="2807226" cy="550137"/>
              </a:xfrm>
              <a:prstGeom prst="roundRect">
                <a:avLst/>
              </a:prstGeom>
              <a:solidFill>
                <a:srgbClr val="97AE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2" name="Persegi Panjang 21">
                <a:extLst>
                  <a:ext uri="{FF2B5EF4-FFF2-40B4-BE49-F238E27FC236}">
                    <a16:creationId xmlns:a16="http://schemas.microsoft.com/office/drawing/2014/main" id="{2E9214F9-F491-0000-EB96-E13EBA87A4B9}"/>
                  </a:ext>
                </a:extLst>
              </p:cNvPr>
              <p:cNvSpPr/>
              <p:nvPr/>
            </p:nvSpPr>
            <p:spPr>
              <a:xfrm>
                <a:off x="6347160" y="2819081"/>
                <a:ext cx="2801888" cy="997383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3" name="Kotak Teks 22">
                <a:extLst>
                  <a:ext uri="{FF2B5EF4-FFF2-40B4-BE49-F238E27FC236}">
                    <a16:creationId xmlns:a16="http://schemas.microsoft.com/office/drawing/2014/main" id="{1FBD7519-D6C0-2622-6C04-671D706732BE}"/>
                  </a:ext>
                </a:extLst>
              </p:cNvPr>
              <p:cNvSpPr txBox="1"/>
              <p:nvPr/>
            </p:nvSpPr>
            <p:spPr>
              <a:xfrm>
                <a:off x="6335484" y="2806653"/>
                <a:ext cx="2743198" cy="10418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100">
                    <a:latin typeface="Aptos"/>
                    <a:ea typeface="+mn-lt"/>
                    <a:cs typeface="+mn-lt"/>
                  </a:rPr>
                  <a:t>Instead of prioritizing the 2030 objectives, national resources are being heavily diverted toward targeting a top-5 medal finish for the Olympics</a:t>
                </a:r>
                <a:endParaRPr lang="id-ID" sz="1100">
                  <a:latin typeface="Aptos"/>
                </a:endParaRPr>
              </a:p>
            </p:txBody>
          </p:sp>
          <p:sp>
            <p:nvSpPr>
              <p:cNvPr id="30" name="Kotak Teks 29">
                <a:extLst>
                  <a:ext uri="{FF2B5EF4-FFF2-40B4-BE49-F238E27FC236}">
                    <a16:creationId xmlns:a16="http://schemas.microsoft.com/office/drawing/2014/main" id="{5F5A45D3-678F-6E33-75EF-896ACE9966CF}"/>
                  </a:ext>
                </a:extLst>
              </p:cNvPr>
              <p:cNvSpPr txBox="1"/>
              <p:nvPr/>
            </p:nvSpPr>
            <p:spPr>
              <a:xfrm>
                <a:off x="6615470" y="2447529"/>
                <a:ext cx="2743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id-ID" sz="1400" b="1">
                    <a:solidFill>
                      <a:schemeClr val="bg1"/>
                    </a:solidFill>
                    <a:latin typeface="Aptos"/>
                    <a:ea typeface="+mn-lt"/>
                    <a:cs typeface="+mn-lt"/>
                  </a:rPr>
                  <a:t>Fiscal Capital Dilution</a:t>
                </a:r>
                <a:endParaRPr lang="id-ID" sz="1400" b="1">
                  <a:solidFill>
                    <a:schemeClr val="bg1"/>
                  </a:solidFill>
                  <a:latin typeface="Aptos"/>
                </a:endParaRPr>
              </a:p>
            </p:txBody>
          </p:sp>
        </p:grpSp>
        <p:grpSp>
          <p:nvGrpSpPr>
            <p:cNvPr id="35" name="Grup 34">
              <a:extLst>
                <a:ext uri="{FF2B5EF4-FFF2-40B4-BE49-F238E27FC236}">
                  <a16:creationId xmlns:a16="http://schemas.microsoft.com/office/drawing/2014/main" id="{F66D9868-2F63-F7D8-6E54-0F2AFD3D95A5}"/>
                </a:ext>
              </a:extLst>
            </p:cNvPr>
            <p:cNvGrpSpPr/>
            <p:nvPr/>
          </p:nvGrpSpPr>
          <p:grpSpPr>
            <a:xfrm>
              <a:off x="2786740" y="2153029"/>
              <a:ext cx="3023186" cy="1407651"/>
              <a:chOff x="3345540" y="2508629"/>
              <a:chExt cx="3023186" cy="1407651"/>
            </a:xfrm>
          </p:grpSpPr>
          <p:sp>
            <p:nvSpPr>
              <p:cNvPr id="31" name="Persegi Panjang: Sudut Lengkung 30">
                <a:extLst>
                  <a:ext uri="{FF2B5EF4-FFF2-40B4-BE49-F238E27FC236}">
                    <a16:creationId xmlns:a16="http://schemas.microsoft.com/office/drawing/2014/main" id="{D018EBD2-C224-590D-5B58-99C5D5867AD2}"/>
                  </a:ext>
                </a:extLst>
              </p:cNvPr>
              <p:cNvSpPr/>
              <p:nvPr/>
            </p:nvSpPr>
            <p:spPr>
              <a:xfrm>
                <a:off x="3353383" y="2508629"/>
                <a:ext cx="2807226" cy="550137"/>
              </a:xfrm>
              <a:prstGeom prst="roundRect">
                <a:avLst/>
              </a:prstGeom>
              <a:solidFill>
                <a:srgbClr val="97AE5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2" name="Persegi Panjang 31">
                <a:extLst>
                  <a:ext uri="{FF2B5EF4-FFF2-40B4-BE49-F238E27FC236}">
                    <a16:creationId xmlns:a16="http://schemas.microsoft.com/office/drawing/2014/main" id="{BB08B3B9-3F38-449B-F470-CA18EDE21B59}"/>
                  </a:ext>
                </a:extLst>
              </p:cNvPr>
              <p:cNvSpPr/>
              <p:nvPr/>
            </p:nvSpPr>
            <p:spPr>
              <a:xfrm>
                <a:off x="3357216" y="2891652"/>
                <a:ext cx="2801888" cy="997383"/>
              </a:xfrm>
              <a:prstGeom prst="rect">
                <a:avLst/>
              </a:prstGeom>
              <a:solidFill>
                <a:srgbClr val="F5F5F5"/>
              </a:solidFill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3" name="Kotak Teks 32">
                <a:extLst>
                  <a:ext uri="{FF2B5EF4-FFF2-40B4-BE49-F238E27FC236}">
                    <a16:creationId xmlns:a16="http://schemas.microsoft.com/office/drawing/2014/main" id="{FA76339A-37C4-9D55-3A82-2BE58BB2C6D8}"/>
                  </a:ext>
                </a:extLst>
              </p:cNvPr>
              <p:cNvSpPr txBox="1"/>
              <p:nvPr/>
            </p:nvSpPr>
            <p:spPr>
              <a:xfrm>
                <a:off x="3345540" y="2884030"/>
                <a:ext cx="2743198" cy="1032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100">
                    <a:latin typeface="Aptos"/>
                    <a:ea typeface="+mn-lt"/>
                    <a:cs typeface="+mn-lt"/>
                  </a:rPr>
                  <a:t>The government is splitting its strategic focus by actively pushing a 2036 Olympic bid in Ahmedabad, which has already entered the IOC’s "continuous dialogue" phase</a:t>
                </a:r>
                <a:endParaRPr lang="id-ID" sz="1100">
                  <a:latin typeface="Aptos"/>
                </a:endParaRPr>
              </a:p>
            </p:txBody>
          </p:sp>
          <p:sp>
            <p:nvSpPr>
              <p:cNvPr id="34" name="Kotak Teks 33">
                <a:extLst>
                  <a:ext uri="{FF2B5EF4-FFF2-40B4-BE49-F238E27FC236}">
                    <a16:creationId xmlns:a16="http://schemas.microsoft.com/office/drawing/2014/main" id="{36303C1B-9B57-FC41-7288-087D1895149E}"/>
                  </a:ext>
                </a:extLst>
              </p:cNvPr>
              <p:cNvSpPr txBox="1"/>
              <p:nvPr/>
            </p:nvSpPr>
            <p:spPr>
              <a:xfrm>
                <a:off x="3625526" y="2520100"/>
                <a:ext cx="2743200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id-ID" sz="1400" b="1">
                    <a:solidFill>
                      <a:schemeClr val="bg1"/>
                    </a:solidFill>
                    <a:latin typeface="Aptos"/>
                    <a:ea typeface="+mn-lt"/>
                    <a:cs typeface="+mn-lt"/>
                  </a:rPr>
                  <a:t>Political Distraction</a:t>
                </a:r>
                <a:endParaRPr lang="id-ID" sz="1400" b="1">
                  <a:solidFill>
                    <a:schemeClr val="bg1"/>
                  </a:solidFill>
                  <a:latin typeface="Aptos"/>
                </a:endParaRPr>
              </a:p>
            </p:txBody>
          </p:sp>
        </p:grpSp>
        <p:pic>
          <p:nvPicPr>
            <p:cNvPr id="47" name="Gambar 46">
              <a:extLst>
                <a:ext uri="{FF2B5EF4-FFF2-40B4-BE49-F238E27FC236}">
                  <a16:creationId xmlns:a16="http://schemas.microsoft.com/office/drawing/2014/main" id="{E8D60BC6-3633-DD1E-1FD7-E350AA5E5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198" y="1607455"/>
              <a:ext cx="624117" cy="609601"/>
            </a:xfrm>
            <a:prstGeom prst="rect">
              <a:avLst/>
            </a:prstGeom>
          </p:spPr>
        </p:pic>
        <p:pic>
          <p:nvPicPr>
            <p:cNvPr id="48" name="Gambar 47">
              <a:extLst>
                <a:ext uri="{FF2B5EF4-FFF2-40B4-BE49-F238E27FC236}">
                  <a16:creationId xmlns:a16="http://schemas.microsoft.com/office/drawing/2014/main" id="{6CFED3F3-4010-F24F-B9CA-EC66B44D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400" y="2964542"/>
              <a:ext cx="725715" cy="711199"/>
            </a:xfrm>
            <a:prstGeom prst="rect">
              <a:avLst/>
            </a:prstGeom>
          </p:spPr>
        </p:pic>
        <p:pic>
          <p:nvPicPr>
            <p:cNvPr id="50" name="Gambar 49">
              <a:extLst>
                <a:ext uri="{FF2B5EF4-FFF2-40B4-BE49-F238E27FC236}">
                  <a16:creationId xmlns:a16="http://schemas.microsoft.com/office/drawing/2014/main" id="{53114CD7-EB6A-2F7C-3737-B59C9631A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2515" y="4938485"/>
              <a:ext cx="609600" cy="544285"/>
            </a:xfrm>
            <a:prstGeom prst="rect">
              <a:avLst/>
            </a:prstGeom>
          </p:spPr>
        </p:pic>
        <p:grpSp>
          <p:nvGrpSpPr>
            <p:cNvPr id="52" name="Grup 51">
              <a:extLst>
                <a:ext uri="{FF2B5EF4-FFF2-40B4-BE49-F238E27FC236}">
                  <a16:creationId xmlns:a16="http://schemas.microsoft.com/office/drawing/2014/main" id="{DCA42369-D055-F2C0-4257-D6715394D57A}"/>
                </a:ext>
              </a:extLst>
            </p:cNvPr>
            <p:cNvGrpSpPr/>
            <p:nvPr/>
          </p:nvGrpSpPr>
          <p:grpSpPr>
            <a:xfrm>
              <a:off x="2747058" y="4502268"/>
              <a:ext cx="5887105" cy="1127259"/>
              <a:chOff x="2978792" y="4541004"/>
              <a:chExt cx="7095325" cy="1219816"/>
            </a:xfrm>
          </p:grpSpPr>
          <p:sp>
            <p:nvSpPr>
              <p:cNvPr id="25" name="Persegi Panjang 24">
                <a:extLst>
                  <a:ext uri="{FF2B5EF4-FFF2-40B4-BE49-F238E27FC236}">
                    <a16:creationId xmlns:a16="http://schemas.microsoft.com/office/drawing/2014/main" id="{D49C52DC-2828-13C3-77E5-988AE37EC4EB}"/>
                  </a:ext>
                </a:extLst>
              </p:cNvPr>
              <p:cNvSpPr/>
              <p:nvPr/>
            </p:nvSpPr>
            <p:spPr>
              <a:xfrm>
                <a:off x="3049436" y="4612190"/>
                <a:ext cx="7024681" cy="765155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51" name="Kotak Teks 50">
                <a:extLst>
                  <a:ext uri="{FF2B5EF4-FFF2-40B4-BE49-F238E27FC236}">
                    <a16:creationId xmlns:a16="http://schemas.microsoft.com/office/drawing/2014/main" id="{F2B514C8-CDAB-2247-50F2-5EBB749F504C}"/>
                  </a:ext>
                </a:extLst>
              </p:cNvPr>
              <p:cNvSpPr txBox="1"/>
              <p:nvPr/>
            </p:nvSpPr>
            <p:spPr>
              <a:xfrm>
                <a:off x="2978792" y="4541007"/>
                <a:ext cx="6792366" cy="12198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000" b="1">
                    <a:solidFill>
                      <a:schemeClr val="bg1"/>
                    </a:solidFill>
                    <a:latin typeface="Aptos"/>
                    <a:ea typeface="Calibri"/>
                    <a:cs typeface="Calibri"/>
                  </a:rPr>
                  <a:t>Commit to World Cup qualification via a grassroots–first, data-driven pipeline, fund it in four gated ₹100,000 Cr tranches (2026–2046), pursue hosting only as a </a:t>
                </a:r>
                <a:endParaRPr lang="en-US" sz="1000">
                  <a:solidFill>
                    <a:schemeClr val="bg1"/>
                  </a:solidFill>
                  <a:latin typeface="Aptos"/>
                  <a:ea typeface="Calibri"/>
                  <a:cs typeface="Calibri"/>
                </a:endParaRPr>
              </a:p>
              <a:p>
                <a:r>
                  <a:rPr lang="en-US" sz="1000" b="1">
                    <a:solidFill>
                      <a:schemeClr val="bg1"/>
                    </a:solidFill>
                    <a:latin typeface="Aptos"/>
                    <a:ea typeface="Calibri"/>
                    <a:cs typeface="Calibri"/>
                  </a:rPr>
                  <a:t>multi-country bid once credibility is </a:t>
                </a:r>
                <a:r>
                  <a:rPr lang="en-US" sz="1000" b="1" err="1">
                    <a:solidFill>
                      <a:schemeClr val="bg1"/>
                    </a:solidFill>
                    <a:latin typeface="Aptos"/>
                    <a:ea typeface="Calibri"/>
                    <a:cs typeface="Calibri"/>
                  </a:rPr>
                  <a:t>proven, and</a:t>
                </a:r>
                <a:r>
                  <a:rPr lang="en-US" sz="1000" b="1">
                    <a:solidFill>
                      <a:schemeClr val="bg1"/>
                    </a:solidFill>
                    <a:latin typeface="Aptos"/>
                    <a:ea typeface="Calibri"/>
                    <a:cs typeface="Calibri"/>
                  </a:rPr>
                  <a:t> gate every phase with go/no-go milestones.</a:t>
                </a:r>
                <a:endParaRPr lang="en-US" sz="1000">
                  <a:solidFill>
                    <a:schemeClr val="bg1"/>
                  </a:solidFill>
                  <a:latin typeface="Aptos"/>
                  <a:ea typeface="Calibri"/>
                  <a:cs typeface="Calibri"/>
                </a:endParaRPr>
              </a:p>
              <a:p>
                <a:endParaRPr lang="en-US" sz="1000">
                  <a:solidFill>
                    <a:schemeClr val="bg1"/>
                  </a:solidFill>
                  <a:latin typeface="Aptos"/>
                  <a:ea typeface="Calibri"/>
                  <a:cs typeface="Calibri"/>
                </a:endParaRPr>
              </a:p>
              <a:p>
                <a:pPr algn="ctr"/>
                <a:endParaRPr lang="en-US" sz="1000" b="1">
                  <a:solidFill>
                    <a:schemeClr val="bg1"/>
                  </a:solidFill>
                  <a:latin typeface="Aptos"/>
                  <a:ea typeface="Calibri"/>
                  <a:cs typeface="Calibri"/>
                </a:endParaRPr>
              </a:p>
            </p:txBody>
          </p:sp>
        </p:grpSp>
      </p:grpSp>
      <p:sp>
        <p:nvSpPr>
          <p:cNvPr id="64" name="Text 12">
            <a:extLst>
              <a:ext uri="{FF2B5EF4-FFF2-40B4-BE49-F238E27FC236}">
                <a16:creationId xmlns:a16="http://schemas.microsoft.com/office/drawing/2014/main" id="{8F0A0716-2A9C-04AC-1559-8005C659B36E}"/>
              </a:ext>
            </a:extLst>
          </p:cNvPr>
          <p:cNvSpPr/>
          <p:nvPr/>
        </p:nvSpPr>
        <p:spPr>
          <a:xfrm>
            <a:off x="8150206" y="2766423"/>
            <a:ext cx="3443224" cy="333829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  <a:latin typeface="Aptos"/>
                <a:ea typeface="Calibri" pitchFamily="34" charset="-122"/>
                <a:cs typeface="Calibri" pitchFamily="34" charset="-120"/>
              </a:rPr>
              <a:t>Qualification becomes realistic</a:t>
            </a:r>
            <a:endParaRPr lang="en-US" sz="1600">
              <a:solidFill>
                <a:schemeClr val="bg1"/>
              </a:solidFill>
              <a:latin typeface="Aptos"/>
            </a:endParaRPr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01E5513C-A155-62FC-D92F-259E1B95D1F1}"/>
              </a:ext>
            </a:extLst>
          </p:cNvPr>
          <p:cNvSpPr/>
          <p:nvPr/>
        </p:nvSpPr>
        <p:spPr>
          <a:xfrm>
            <a:off x="8142948" y="3078480"/>
            <a:ext cx="3428711" cy="858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>
                <a:latin typeface="Aptos"/>
                <a:ea typeface="Calibri"/>
                <a:cs typeface="Calibri"/>
              </a:rPr>
              <a:t>Benchmarked against </a:t>
            </a:r>
            <a:r>
              <a:rPr lang="en-US" sz="1100" b="1">
                <a:latin typeface="Aptos"/>
                <a:ea typeface="Calibri"/>
                <a:cs typeface="Calibri"/>
              </a:rPr>
              <a:t>Morocco, Japan, and South Korea's</a:t>
            </a:r>
            <a:r>
              <a:rPr lang="en-US" sz="1100">
                <a:latin typeface="Aptos"/>
                <a:ea typeface="Calibri"/>
                <a:cs typeface="Calibri"/>
              </a:rPr>
              <a:t> transformation rates, India's grassroots-to-senior-team pipeline makes 2046 the earliest credible qualification window.</a:t>
            </a:r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C5A5CF53-A440-49F3-F7B9-B7D43BF262AB}"/>
              </a:ext>
            </a:extLst>
          </p:cNvPr>
          <p:cNvSpPr/>
          <p:nvPr/>
        </p:nvSpPr>
        <p:spPr>
          <a:xfrm>
            <a:off x="8197087" y="4014652"/>
            <a:ext cx="3363396" cy="377372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  <a:latin typeface="Aptos"/>
                <a:ea typeface="Calibri" pitchFamily="34" charset="-122"/>
                <a:cs typeface="Calibri" pitchFamily="34" charset="-120"/>
              </a:rPr>
              <a:t>AIFF's own centenary</a:t>
            </a:r>
            <a:endParaRPr lang="en-US" sz="1600">
              <a:solidFill>
                <a:schemeClr val="bg1"/>
              </a:solidFill>
              <a:latin typeface="Aptos"/>
            </a:endParaRPr>
          </a:p>
        </p:txBody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EE313482-2A90-AB41-975F-B74F07C91BC0}"/>
              </a:ext>
            </a:extLst>
          </p:cNvPr>
          <p:cNvSpPr/>
          <p:nvPr/>
        </p:nvSpPr>
        <p:spPr>
          <a:xfrm>
            <a:off x="8211602" y="4392024"/>
            <a:ext cx="3392424" cy="9601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>
                <a:latin typeface="Aptos"/>
                <a:ea typeface="Calibri" pitchFamily="34" charset="-122"/>
                <a:cs typeface="Calibri" pitchFamily="34" charset="-120"/>
              </a:rPr>
              <a:t>2047 is Vision 2047's own target horizon. A 2046 qualification push lands exactly one year ahead of it, legacy and delivery arrive together, not staggered.</a:t>
            </a:r>
            <a:endParaRPr lang="en-US" sz="1200">
              <a:latin typeface="Aptos"/>
            </a:endParaRPr>
          </a:p>
        </p:txBody>
      </p:sp>
      <p:cxnSp>
        <p:nvCxnSpPr>
          <p:cNvPr id="71" name="Konektor Panah Lurus 70">
            <a:extLst>
              <a:ext uri="{FF2B5EF4-FFF2-40B4-BE49-F238E27FC236}">
                <a16:creationId xmlns:a16="http://schemas.microsoft.com/office/drawing/2014/main" id="{E34E6D74-1A98-C6A7-78A0-C3A28E59B12D}"/>
              </a:ext>
            </a:extLst>
          </p:cNvPr>
          <p:cNvCxnSpPr>
            <a:cxnSpLocks/>
          </p:cNvCxnSpPr>
          <p:nvPr/>
        </p:nvCxnSpPr>
        <p:spPr>
          <a:xfrm flipV="1">
            <a:off x="5764" y="6305816"/>
            <a:ext cx="12180472" cy="32870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11">
            <a:extLst>
              <a:ext uri="{FF2B5EF4-FFF2-40B4-BE49-F238E27FC236}">
                <a16:creationId xmlns:a16="http://schemas.microsoft.com/office/drawing/2014/main" id="{38879A8D-0732-F398-07C0-AC998CB36741}"/>
              </a:ext>
            </a:extLst>
          </p:cNvPr>
          <p:cNvSpPr txBox="1"/>
          <p:nvPr/>
        </p:nvSpPr>
        <p:spPr>
          <a:xfrm>
            <a:off x="1538514" y="5025570"/>
            <a:ext cx="21336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>
                <a:solidFill>
                  <a:srgbClr val="0057B8"/>
                </a:solidFill>
                <a:latin typeface="Aptos"/>
                <a:ea typeface="Cambria"/>
                <a:cs typeface="Cambria"/>
              </a:rPr>
              <a:t>4</a:t>
            </a: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Registered Players Per 1,000 population </a:t>
            </a:r>
            <a:r>
              <a:rPr lang="en-US" sz="1200">
                <a:solidFill>
                  <a:srgbClr val="0057B8"/>
                </a:solidFill>
                <a:ea typeface="+mn-lt"/>
                <a:cs typeface="+mn-lt"/>
              </a:rPr>
              <a:t>∼ </a:t>
            </a:r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Today</a:t>
            </a:r>
          </a:p>
        </p:txBody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121F413A-9F30-4E00-3B6E-345992F864ED}"/>
              </a:ext>
            </a:extLst>
          </p:cNvPr>
          <p:cNvSpPr/>
          <p:nvPr/>
        </p:nvSpPr>
        <p:spPr>
          <a:xfrm>
            <a:off x="4372427" y="5094515"/>
            <a:ext cx="2269671" cy="1150255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798D3549-AAE5-3D60-CF43-EDF361CB68D0}"/>
              </a:ext>
            </a:extLst>
          </p:cNvPr>
          <p:cNvSpPr txBox="1"/>
          <p:nvPr/>
        </p:nvSpPr>
        <p:spPr>
          <a:xfrm>
            <a:off x="4376056" y="5025571"/>
            <a:ext cx="226423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>
                <a:solidFill>
                  <a:srgbClr val="1F7A5C"/>
                </a:solidFill>
                <a:latin typeface="Aptos"/>
                <a:ea typeface="Cambria"/>
                <a:cs typeface="Cambria"/>
              </a:rPr>
              <a:t>2046</a:t>
            </a:r>
          </a:p>
          <a:p>
            <a:pPr algn="ctr"/>
            <a:r>
              <a:rPr lang="en-US" sz="1200" b="1">
                <a:solidFill>
                  <a:srgbClr val="1F7A5C"/>
                </a:solidFill>
                <a:latin typeface="Aptos Display"/>
                <a:ea typeface="Cambria"/>
                <a:cs typeface="Calibri"/>
              </a:rPr>
              <a:t>Earliest Realistic Qualification Year 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∼</a:t>
            </a:r>
            <a:r>
              <a:rPr lang="en-US" sz="1200" b="1">
                <a:solidFill>
                  <a:srgbClr val="1F7A5C"/>
                </a:solidFill>
                <a:latin typeface="Aptos Display"/>
                <a:ea typeface="Cambria"/>
                <a:cs typeface="Calibri"/>
              </a:rPr>
              <a:t> Our Target</a:t>
            </a:r>
          </a:p>
          <a:p>
            <a:pPr algn="ctr"/>
            <a:endParaRPr lang="en-US" sz="1400" b="1">
              <a:solidFill>
                <a:srgbClr val="1F7A5C"/>
              </a:solidFill>
              <a:latin typeface="Aptos Display"/>
              <a:ea typeface="Calibri"/>
              <a:cs typeface="Calibr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" name="Persegi Panjang: Sudut Lengkung 38">
            <a:extLst>
              <a:ext uri="{FF2B5EF4-FFF2-40B4-BE49-F238E27FC236}">
                <a16:creationId xmlns:a16="http://schemas.microsoft.com/office/drawing/2014/main" id="{9F415737-3C4C-02F6-198C-147F68D69D8B}"/>
              </a:ext>
            </a:extLst>
          </p:cNvPr>
          <p:cNvSpPr/>
          <p:nvPr/>
        </p:nvSpPr>
        <p:spPr>
          <a:xfrm>
            <a:off x="-204107" y="109765"/>
            <a:ext cx="440871" cy="608692"/>
          </a:xfrm>
          <a:prstGeom prst="roundRect">
            <a:avLst/>
          </a:prstGeom>
          <a:solidFill>
            <a:srgbClr val="005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2D4BFC6-C10C-3340-CA7A-3A336AC3E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657" y="3530601"/>
            <a:ext cx="914400" cy="8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6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298F-8B7D-FB0F-83E7-D976F4D3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6FCC18-E848-3861-E27B-F413CCDC22CB}"/>
              </a:ext>
            </a:extLst>
          </p:cNvPr>
          <p:cNvSpPr/>
          <p:nvPr/>
        </p:nvSpPr>
        <p:spPr>
          <a:xfrm>
            <a:off x="324394" y="759968"/>
            <a:ext cx="11365992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kern="0" spc="100">
                <a:solidFill>
                  <a:schemeClr val="accent5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QUANTIFYING THE GAP</a:t>
            </a:r>
            <a:endParaRPr lang="en-US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914C52-294A-E8B1-F8AE-E5E2A29D9CD1}"/>
              </a:ext>
            </a:extLst>
          </p:cNvPr>
          <p:cNvSpPr/>
          <p:nvPr/>
        </p:nvSpPr>
        <p:spPr>
          <a:xfrm>
            <a:off x="0" y="659032"/>
            <a:ext cx="330008" cy="432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83E5E4B-A128-F450-5B69-A1C72D3FE16F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FB9F8818-FA29-1234-FF89-5CD8300634AC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/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0" b="1">
                <a:solidFill>
                  <a:schemeClr val="bg1"/>
                </a:solidFill>
              </a:rPr>
              <a:t>DIAGNOSIS</a:t>
            </a:r>
            <a:endParaRPr lang="en-US" sz="23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A9427413-0775-6A75-E000-C2665596ECE5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OPERATIONS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8DA1A058-02BB-299F-2C88-7F30070A0251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ECONOMICS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ABE6946F-523A-9C7A-6A00-61C8F01ED372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IMPROVEMENTS</a:t>
            </a:r>
          </a:p>
        </p:txBody>
      </p:sp>
      <p:sp>
        <p:nvSpPr>
          <p:cNvPr id="11" name="Persegi Panjang: Sudut Lengkung 150">
            <a:extLst>
              <a:ext uri="{FF2B5EF4-FFF2-40B4-BE49-F238E27FC236}">
                <a16:creationId xmlns:a16="http://schemas.microsoft.com/office/drawing/2014/main" id="{4151CF0F-7896-2639-08E2-763ABB9E8DF2}"/>
              </a:ext>
            </a:extLst>
          </p:cNvPr>
          <p:cNvSpPr/>
          <p:nvPr/>
        </p:nvSpPr>
        <p:spPr>
          <a:xfrm>
            <a:off x="9715071" y="1660547"/>
            <a:ext cx="2073869" cy="4745931"/>
          </a:xfrm>
          <a:prstGeom prst="roundRect">
            <a:avLst/>
          </a:prstGeom>
          <a:noFill/>
          <a:ln>
            <a:solidFill>
              <a:srgbClr val="0057B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7" name="Persegi Panjang 144">
            <a:extLst>
              <a:ext uri="{FF2B5EF4-FFF2-40B4-BE49-F238E27FC236}">
                <a16:creationId xmlns:a16="http://schemas.microsoft.com/office/drawing/2014/main" id="{54C47236-CEA4-4204-C2F8-E4E6300CDDD5}"/>
              </a:ext>
            </a:extLst>
          </p:cNvPr>
          <p:cNvSpPr/>
          <p:nvPr/>
        </p:nvSpPr>
        <p:spPr>
          <a:xfrm>
            <a:off x="6024411" y="5121920"/>
            <a:ext cx="3568153" cy="5429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Persegi Panjang 143">
            <a:extLst>
              <a:ext uri="{FF2B5EF4-FFF2-40B4-BE49-F238E27FC236}">
                <a16:creationId xmlns:a16="http://schemas.microsoft.com/office/drawing/2014/main" id="{CD834DC0-78D1-9CAD-6E14-0892C983647F}"/>
              </a:ext>
            </a:extLst>
          </p:cNvPr>
          <p:cNvSpPr/>
          <p:nvPr/>
        </p:nvSpPr>
        <p:spPr>
          <a:xfrm>
            <a:off x="6060698" y="4447006"/>
            <a:ext cx="3539125" cy="564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4" name="Persegi Panjang 142">
            <a:extLst>
              <a:ext uri="{FF2B5EF4-FFF2-40B4-BE49-F238E27FC236}">
                <a16:creationId xmlns:a16="http://schemas.microsoft.com/office/drawing/2014/main" id="{1F76A7D0-F078-ED21-64B1-D35220072374}"/>
              </a:ext>
            </a:extLst>
          </p:cNvPr>
          <p:cNvSpPr/>
          <p:nvPr/>
        </p:nvSpPr>
        <p:spPr>
          <a:xfrm>
            <a:off x="6046184" y="3743063"/>
            <a:ext cx="3539125" cy="564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6" name="Persegi Panjang 140">
            <a:extLst>
              <a:ext uri="{FF2B5EF4-FFF2-40B4-BE49-F238E27FC236}">
                <a16:creationId xmlns:a16="http://schemas.microsoft.com/office/drawing/2014/main" id="{54B41B28-48BF-19B3-AB35-6F315233A057}"/>
              </a:ext>
            </a:extLst>
          </p:cNvPr>
          <p:cNvSpPr/>
          <p:nvPr/>
        </p:nvSpPr>
        <p:spPr>
          <a:xfrm>
            <a:off x="6075213" y="3097178"/>
            <a:ext cx="3539125" cy="564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Persegi Panjang 137">
            <a:extLst>
              <a:ext uri="{FF2B5EF4-FFF2-40B4-BE49-F238E27FC236}">
                <a16:creationId xmlns:a16="http://schemas.microsoft.com/office/drawing/2014/main" id="{EC4597B9-F212-472F-B9FA-BA48084223AF}"/>
              </a:ext>
            </a:extLst>
          </p:cNvPr>
          <p:cNvSpPr/>
          <p:nvPr/>
        </p:nvSpPr>
        <p:spPr>
          <a:xfrm>
            <a:off x="6082471" y="2458550"/>
            <a:ext cx="3539125" cy="564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Persegi Panjang 135">
            <a:extLst>
              <a:ext uri="{FF2B5EF4-FFF2-40B4-BE49-F238E27FC236}">
                <a16:creationId xmlns:a16="http://schemas.microsoft.com/office/drawing/2014/main" id="{C5291BBE-E67A-E88E-D64B-4D434FC75090}"/>
              </a:ext>
            </a:extLst>
          </p:cNvPr>
          <p:cNvSpPr/>
          <p:nvPr/>
        </p:nvSpPr>
        <p:spPr>
          <a:xfrm>
            <a:off x="6082472" y="1819922"/>
            <a:ext cx="3539125" cy="5937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2" name="Persegi Panjang 66">
            <a:extLst>
              <a:ext uri="{FF2B5EF4-FFF2-40B4-BE49-F238E27FC236}">
                <a16:creationId xmlns:a16="http://schemas.microsoft.com/office/drawing/2014/main" id="{E6059F27-4E11-68B7-297D-561AE284758F}"/>
              </a:ext>
            </a:extLst>
          </p:cNvPr>
          <p:cNvSpPr/>
          <p:nvPr/>
        </p:nvSpPr>
        <p:spPr>
          <a:xfrm>
            <a:off x="6090418" y="1424631"/>
            <a:ext cx="5562599" cy="2009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6" name="Grup 54">
            <a:extLst>
              <a:ext uri="{FF2B5EF4-FFF2-40B4-BE49-F238E27FC236}">
                <a16:creationId xmlns:a16="http://schemas.microsoft.com/office/drawing/2014/main" id="{4313BE2B-9355-B84C-8789-ABD5BBCF1330}"/>
              </a:ext>
            </a:extLst>
          </p:cNvPr>
          <p:cNvGrpSpPr/>
          <p:nvPr/>
        </p:nvGrpSpPr>
        <p:grpSpPr>
          <a:xfrm>
            <a:off x="506421" y="1264317"/>
            <a:ext cx="4523409" cy="2464590"/>
            <a:chOff x="397565" y="1126434"/>
            <a:chExt cx="5996608" cy="3611217"/>
          </a:xfrm>
        </p:grpSpPr>
        <p:sp>
          <p:nvSpPr>
            <p:cNvPr id="34" name="Persegi Panjang 53">
              <a:extLst>
                <a:ext uri="{FF2B5EF4-FFF2-40B4-BE49-F238E27FC236}">
                  <a16:creationId xmlns:a16="http://schemas.microsoft.com/office/drawing/2014/main" id="{6876B196-BC99-AF79-1EF6-0C65036B04DD}"/>
                </a:ext>
              </a:extLst>
            </p:cNvPr>
            <p:cNvSpPr/>
            <p:nvPr/>
          </p:nvSpPr>
          <p:spPr>
            <a:xfrm>
              <a:off x="397565" y="1126434"/>
              <a:ext cx="5996608" cy="3611217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pic>
          <p:nvPicPr>
            <p:cNvPr id="35" name="Picture 21" descr="Sebuah gambar berisi cuplikan layar, deasin&#10;&#10;Konten yang dihasilkan AI mungkin salah.">
              <a:extLst>
                <a:ext uri="{FF2B5EF4-FFF2-40B4-BE49-F238E27FC236}">
                  <a16:creationId xmlns:a16="http://schemas.microsoft.com/office/drawing/2014/main" id="{A6B07C89-B04B-95AE-F57D-D8C537DC3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805" y="1546905"/>
              <a:ext cx="5719537" cy="2893333"/>
            </a:xfrm>
            <a:prstGeom prst="rect">
              <a:avLst/>
            </a:prstGeom>
          </p:spPr>
        </p:pic>
      </p:grpSp>
      <p:sp>
        <p:nvSpPr>
          <p:cNvPr id="38" name="Persegi Panjang 57">
            <a:extLst>
              <a:ext uri="{FF2B5EF4-FFF2-40B4-BE49-F238E27FC236}">
                <a16:creationId xmlns:a16="http://schemas.microsoft.com/office/drawing/2014/main" id="{011BC958-2700-43EF-656F-6B1575F05A50}"/>
              </a:ext>
            </a:extLst>
          </p:cNvPr>
          <p:cNvSpPr/>
          <p:nvPr/>
        </p:nvSpPr>
        <p:spPr>
          <a:xfrm>
            <a:off x="936013" y="1297291"/>
            <a:ext cx="4123161" cy="4160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sz="1200" b="1">
                <a:solidFill>
                  <a:srgbClr val="0070C0"/>
                </a:solidFill>
                <a:latin typeface="Aptos"/>
                <a:ea typeface="Calibri"/>
                <a:cs typeface="Calibri"/>
              </a:rPr>
              <a:t>FIFA Ranking Trajectory (1995-2026)</a:t>
            </a:r>
          </a:p>
        </p:txBody>
      </p:sp>
      <p:sp>
        <p:nvSpPr>
          <p:cNvPr id="40" name="Persegi Panjang 60">
            <a:extLst>
              <a:ext uri="{FF2B5EF4-FFF2-40B4-BE49-F238E27FC236}">
                <a16:creationId xmlns:a16="http://schemas.microsoft.com/office/drawing/2014/main" id="{3B1AFC86-38C2-BC2A-4230-EA23EE411075}"/>
              </a:ext>
            </a:extLst>
          </p:cNvPr>
          <p:cNvSpPr/>
          <p:nvPr/>
        </p:nvSpPr>
        <p:spPr>
          <a:xfrm>
            <a:off x="1540221" y="2344912"/>
            <a:ext cx="3321423" cy="6330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2" name="Segitiga Sama Kaki 62">
            <a:extLst>
              <a:ext uri="{FF2B5EF4-FFF2-40B4-BE49-F238E27FC236}">
                <a16:creationId xmlns:a16="http://schemas.microsoft.com/office/drawing/2014/main" id="{50F364E2-4FCA-6B78-3B2D-AA5DDDD17153}"/>
              </a:ext>
            </a:extLst>
          </p:cNvPr>
          <p:cNvSpPr/>
          <p:nvPr/>
        </p:nvSpPr>
        <p:spPr>
          <a:xfrm rot="5400000">
            <a:off x="3225975" y="3461570"/>
            <a:ext cx="4847724" cy="275420"/>
          </a:xfrm>
          <a:prstGeom prst="triangle">
            <a:avLst/>
          </a:prstGeom>
          <a:solidFill>
            <a:srgbClr val="97AE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4" name="Persegi Panjang: Sudut Lengkung 63">
            <a:extLst>
              <a:ext uri="{FF2B5EF4-FFF2-40B4-BE49-F238E27FC236}">
                <a16:creationId xmlns:a16="http://schemas.microsoft.com/office/drawing/2014/main" id="{07814E51-59AC-2633-974D-62B54C964C21}"/>
              </a:ext>
            </a:extLst>
          </p:cNvPr>
          <p:cNvSpPr/>
          <p:nvPr/>
        </p:nvSpPr>
        <p:spPr>
          <a:xfrm>
            <a:off x="6026091" y="1258747"/>
            <a:ext cx="1316757" cy="47708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200" b="1">
                <a:latin typeface="Aptos"/>
                <a:ea typeface="Calibri"/>
                <a:cs typeface="Calibri"/>
              </a:rPr>
              <a:t>Country</a:t>
            </a:r>
          </a:p>
        </p:txBody>
      </p:sp>
      <p:sp>
        <p:nvSpPr>
          <p:cNvPr id="46" name="Persegi Panjang: Sudut Lengkung 64">
            <a:extLst>
              <a:ext uri="{FF2B5EF4-FFF2-40B4-BE49-F238E27FC236}">
                <a16:creationId xmlns:a16="http://schemas.microsoft.com/office/drawing/2014/main" id="{3CFBCD35-DE03-0431-5749-E3C2B0FD91C4}"/>
              </a:ext>
            </a:extLst>
          </p:cNvPr>
          <p:cNvSpPr/>
          <p:nvPr/>
        </p:nvSpPr>
        <p:spPr>
          <a:xfrm>
            <a:off x="7811348" y="1258746"/>
            <a:ext cx="1273215" cy="46983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sz="1200" b="1">
                <a:latin typeface="Aptos"/>
                <a:ea typeface="Calibri"/>
                <a:cs typeface="Calibri"/>
              </a:rPr>
              <a:t>Players</a:t>
            </a:r>
          </a:p>
        </p:txBody>
      </p:sp>
      <p:sp>
        <p:nvSpPr>
          <p:cNvPr id="48" name="Persegi Panjang: Sudut Lengkung 65">
            <a:extLst>
              <a:ext uri="{FF2B5EF4-FFF2-40B4-BE49-F238E27FC236}">
                <a16:creationId xmlns:a16="http://schemas.microsoft.com/office/drawing/2014/main" id="{96F59797-093C-1F80-78FE-FF3D4D2A9C6D}"/>
              </a:ext>
            </a:extLst>
          </p:cNvPr>
          <p:cNvSpPr/>
          <p:nvPr/>
        </p:nvSpPr>
        <p:spPr>
          <a:xfrm>
            <a:off x="9625632" y="1266003"/>
            <a:ext cx="2100528" cy="47708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d-ID" sz="1200" b="1">
                <a:latin typeface="Aptos"/>
                <a:ea typeface="Calibri"/>
                <a:cs typeface="Calibri"/>
              </a:rPr>
              <a:t>Root Causes</a:t>
            </a:r>
          </a:p>
        </p:txBody>
      </p:sp>
      <p:pic>
        <p:nvPicPr>
          <p:cNvPr id="50" name="Gambar 67" descr="Jerman - Wikipedia bahasa Indonesia, ensiklopedia bebas">
            <a:extLst>
              <a:ext uri="{FF2B5EF4-FFF2-40B4-BE49-F238E27FC236}">
                <a16:creationId xmlns:a16="http://schemas.microsoft.com/office/drawing/2014/main" id="{A65183F8-15F4-F17D-A270-DA3FA0073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514" y="1907043"/>
            <a:ext cx="449948" cy="424090"/>
          </a:xfrm>
          <a:prstGeom prst="ellipse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2" name="Gambar 70">
            <a:extLst>
              <a:ext uri="{FF2B5EF4-FFF2-40B4-BE49-F238E27FC236}">
                <a16:creationId xmlns:a16="http://schemas.microsoft.com/office/drawing/2014/main" id="{6B5E6C34-05CC-3101-1FAD-A979A5E03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40" y="2514597"/>
            <a:ext cx="493487" cy="44268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4" name="Gambar 71">
            <a:extLst>
              <a:ext uri="{FF2B5EF4-FFF2-40B4-BE49-F238E27FC236}">
                <a16:creationId xmlns:a16="http://schemas.microsoft.com/office/drawing/2014/main" id="{2F2A19B7-05EA-B737-2612-4201A5A4A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285" y="3813627"/>
            <a:ext cx="471715" cy="43542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6" name="Gambar 72">
            <a:extLst>
              <a:ext uri="{FF2B5EF4-FFF2-40B4-BE49-F238E27FC236}">
                <a16:creationId xmlns:a16="http://schemas.microsoft.com/office/drawing/2014/main" id="{BB41DB6E-924A-E655-0ACF-F2643366B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9999" y="4488543"/>
            <a:ext cx="500746" cy="515260"/>
          </a:xfrm>
          <a:prstGeom prst="rect">
            <a:avLst/>
          </a:prstGeom>
          <a:ln>
            <a:noFill/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8" name="Gambar 125">
            <a:extLst>
              <a:ext uri="{FF2B5EF4-FFF2-40B4-BE49-F238E27FC236}">
                <a16:creationId xmlns:a16="http://schemas.microsoft.com/office/drawing/2014/main" id="{0DD142E5-F753-DE27-815E-5C3B1B99BD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680000" flipV="1">
            <a:off x="6383430" y="3163990"/>
            <a:ext cx="442691" cy="428174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60" name="Gambar 126">
            <a:extLst>
              <a:ext uri="{FF2B5EF4-FFF2-40B4-BE49-F238E27FC236}">
                <a16:creationId xmlns:a16="http://schemas.microsoft.com/office/drawing/2014/main" id="{245E9E08-77AC-92AB-9499-9472E02580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5485" y="5112658"/>
            <a:ext cx="500745" cy="52251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C84CE108-5F0C-1D40-BC09-ED85CB97C4BD}"/>
              </a:ext>
            </a:extLst>
          </p:cNvPr>
          <p:cNvSpPr/>
          <p:nvPr/>
        </p:nvSpPr>
        <p:spPr>
          <a:xfrm>
            <a:off x="8052708" y="1909535"/>
            <a:ext cx="455384" cy="431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4" name="Kotak Teks 127">
            <a:extLst>
              <a:ext uri="{FF2B5EF4-FFF2-40B4-BE49-F238E27FC236}">
                <a16:creationId xmlns:a16="http://schemas.microsoft.com/office/drawing/2014/main" id="{91D4279C-B39F-35A5-1194-F0E1A2D70488}"/>
              </a:ext>
            </a:extLst>
          </p:cNvPr>
          <p:cNvSpPr txBox="1"/>
          <p:nvPr/>
        </p:nvSpPr>
        <p:spPr>
          <a:xfrm>
            <a:off x="7942414" y="1919090"/>
            <a:ext cx="6676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83</a:t>
            </a:r>
            <a:endParaRPr lang="id-ID" sz="2000" b="1">
              <a:latin typeface="Aptos"/>
              <a:ea typeface="Calibri"/>
              <a:cs typeface="Calibri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B0CED97-5D3C-AEA1-9187-F2D62208D4E1}"/>
              </a:ext>
            </a:extLst>
          </p:cNvPr>
          <p:cNvSpPr/>
          <p:nvPr/>
        </p:nvSpPr>
        <p:spPr>
          <a:xfrm>
            <a:off x="8023678" y="2490107"/>
            <a:ext cx="455384" cy="431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8" name="Kotak Teks 128">
            <a:extLst>
              <a:ext uri="{FF2B5EF4-FFF2-40B4-BE49-F238E27FC236}">
                <a16:creationId xmlns:a16="http://schemas.microsoft.com/office/drawing/2014/main" id="{D71CD94F-D12F-C0F5-1ECB-5994F8AA448F}"/>
              </a:ext>
            </a:extLst>
          </p:cNvPr>
          <p:cNvSpPr txBox="1"/>
          <p:nvPr/>
        </p:nvSpPr>
        <p:spPr>
          <a:xfrm>
            <a:off x="7927900" y="2514176"/>
            <a:ext cx="62411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46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86F2A4A-CEFA-04EF-3782-ACD134A40D07}"/>
              </a:ext>
            </a:extLst>
          </p:cNvPr>
          <p:cNvSpPr/>
          <p:nvPr/>
        </p:nvSpPr>
        <p:spPr>
          <a:xfrm>
            <a:off x="8030934" y="3165021"/>
            <a:ext cx="455384" cy="431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472487A-7FC3-9B05-7AFA-4758620D4A3C}"/>
              </a:ext>
            </a:extLst>
          </p:cNvPr>
          <p:cNvSpPr/>
          <p:nvPr/>
        </p:nvSpPr>
        <p:spPr>
          <a:xfrm>
            <a:off x="8030933" y="3803649"/>
            <a:ext cx="455384" cy="431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4998B60-98C1-167F-FF54-CE03BC30097F}"/>
              </a:ext>
            </a:extLst>
          </p:cNvPr>
          <p:cNvSpPr/>
          <p:nvPr/>
        </p:nvSpPr>
        <p:spPr>
          <a:xfrm>
            <a:off x="8030932" y="4464048"/>
            <a:ext cx="455384" cy="431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FEC5B17-DAD8-54A0-AA89-1DC7E116465D}"/>
              </a:ext>
            </a:extLst>
          </p:cNvPr>
          <p:cNvSpPr/>
          <p:nvPr/>
        </p:nvSpPr>
        <p:spPr>
          <a:xfrm>
            <a:off x="8030931" y="5197019"/>
            <a:ext cx="455384" cy="431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8" name="Kotak Teks 129">
            <a:extLst>
              <a:ext uri="{FF2B5EF4-FFF2-40B4-BE49-F238E27FC236}">
                <a16:creationId xmlns:a16="http://schemas.microsoft.com/office/drawing/2014/main" id="{84B56E27-A4FF-DC2F-7810-8BEC155F2CB9}"/>
              </a:ext>
            </a:extLst>
          </p:cNvPr>
          <p:cNvSpPr txBox="1"/>
          <p:nvPr/>
        </p:nvSpPr>
        <p:spPr>
          <a:xfrm>
            <a:off x="8029498" y="3174575"/>
            <a:ext cx="471715" cy="40736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38</a:t>
            </a:r>
          </a:p>
        </p:txBody>
      </p:sp>
      <p:sp>
        <p:nvSpPr>
          <p:cNvPr id="80" name="Kotak Teks 130">
            <a:extLst>
              <a:ext uri="{FF2B5EF4-FFF2-40B4-BE49-F238E27FC236}">
                <a16:creationId xmlns:a16="http://schemas.microsoft.com/office/drawing/2014/main" id="{7703B6C6-BEF9-AD17-9720-40324F3CEC45}"/>
              </a:ext>
            </a:extLst>
          </p:cNvPr>
          <p:cNvSpPr txBox="1"/>
          <p:nvPr/>
        </p:nvSpPr>
        <p:spPr>
          <a:xfrm>
            <a:off x="7942411" y="3798689"/>
            <a:ext cx="64588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31</a:t>
            </a:r>
          </a:p>
        </p:txBody>
      </p:sp>
      <p:sp>
        <p:nvSpPr>
          <p:cNvPr id="82" name="Kotak Teks 131">
            <a:extLst>
              <a:ext uri="{FF2B5EF4-FFF2-40B4-BE49-F238E27FC236}">
                <a16:creationId xmlns:a16="http://schemas.microsoft.com/office/drawing/2014/main" id="{9E497A42-CF74-883E-36C4-F2BD99E9F595}"/>
              </a:ext>
            </a:extLst>
          </p:cNvPr>
          <p:cNvSpPr txBox="1"/>
          <p:nvPr/>
        </p:nvSpPr>
        <p:spPr>
          <a:xfrm>
            <a:off x="8000469" y="4480861"/>
            <a:ext cx="5007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18</a:t>
            </a:r>
          </a:p>
        </p:txBody>
      </p:sp>
      <p:sp>
        <p:nvSpPr>
          <p:cNvPr id="84" name="Kotak Teks 129">
            <a:extLst>
              <a:ext uri="{FF2B5EF4-FFF2-40B4-BE49-F238E27FC236}">
                <a16:creationId xmlns:a16="http://schemas.microsoft.com/office/drawing/2014/main" id="{A5F3D315-D525-C4A2-AA54-2435669C15F3}"/>
              </a:ext>
            </a:extLst>
          </p:cNvPr>
          <p:cNvSpPr txBox="1"/>
          <p:nvPr/>
        </p:nvSpPr>
        <p:spPr>
          <a:xfrm>
            <a:off x="7869840" y="5199318"/>
            <a:ext cx="798287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C00000"/>
                </a:solidFill>
                <a:latin typeface="Aptos"/>
                <a:ea typeface="Calibri"/>
                <a:cs typeface="Calibri"/>
              </a:rPr>
              <a:t>4</a:t>
            </a:r>
          </a:p>
        </p:txBody>
      </p:sp>
      <p:sp>
        <p:nvSpPr>
          <p:cNvPr id="86" name="Persegi Panjang 149">
            <a:extLst>
              <a:ext uri="{FF2B5EF4-FFF2-40B4-BE49-F238E27FC236}">
                <a16:creationId xmlns:a16="http://schemas.microsoft.com/office/drawing/2014/main" id="{A8FAF28E-5C79-602D-0654-CE219DCBED53}"/>
              </a:ext>
            </a:extLst>
          </p:cNvPr>
          <p:cNvSpPr/>
          <p:nvPr/>
        </p:nvSpPr>
        <p:spPr>
          <a:xfrm>
            <a:off x="6048380" y="5137078"/>
            <a:ext cx="3545113" cy="55056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8" name="Kotak Teks 152">
            <a:extLst>
              <a:ext uri="{FF2B5EF4-FFF2-40B4-BE49-F238E27FC236}">
                <a16:creationId xmlns:a16="http://schemas.microsoft.com/office/drawing/2014/main" id="{10E53449-3C87-B21A-B7B0-A05DE66CEDE7}"/>
              </a:ext>
            </a:extLst>
          </p:cNvPr>
          <p:cNvSpPr txBox="1"/>
          <p:nvPr/>
        </p:nvSpPr>
        <p:spPr>
          <a:xfrm>
            <a:off x="9692834" y="1790266"/>
            <a:ext cx="1959530" cy="44340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00" b="1">
                <a:latin typeface="Aptos"/>
                <a:ea typeface="Calibri"/>
                <a:cs typeface="Calibri"/>
              </a:rPr>
              <a:t>Fragmented administration</a:t>
            </a:r>
            <a:r>
              <a:rPr lang="en-US" sz="1200">
                <a:latin typeface="Aptos"/>
                <a:ea typeface="Calibri"/>
                <a:cs typeface="Calibri"/>
              </a:rPr>
              <a:t> across AIFF and state associations, with a history of governance breakdowns</a:t>
            </a:r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00" b="1">
                <a:latin typeface="Aptos"/>
                <a:ea typeface="Calibri"/>
                <a:cs typeface="Calibri"/>
              </a:rPr>
              <a:t>No data-driven talent </a:t>
            </a:r>
            <a:r>
              <a:rPr lang="en-US" sz="1200">
                <a:latin typeface="Aptos"/>
                <a:ea typeface="Calibri"/>
                <a:cs typeface="Calibri"/>
              </a:rPr>
              <a:t>identification pipeline, scouting relies on informal, hyper-local networks</a:t>
            </a:r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00" b="1">
                <a:latin typeface="Aptos"/>
                <a:ea typeface="Calibri"/>
                <a:cs typeface="Calibri"/>
              </a:rPr>
              <a:t>Inconsistent</a:t>
            </a:r>
            <a:r>
              <a:rPr lang="en-US" sz="1200">
                <a:latin typeface="Aptos"/>
                <a:ea typeface="Calibri"/>
                <a:cs typeface="Calibri"/>
              </a:rPr>
              <a:t> grassroots coaching standards nationwide</a:t>
            </a:r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lang="en-US" sz="1200" b="1">
                <a:latin typeface="Aptos"/>
                <a:ea typeface="Calibri"/>
                <a:cs typeface="Calibri"/>
              </a:rPr>
              <a:t>Lack of a competitive youth </a:t>
            </a:r>
            <a:r>
              <a:rPr lang="en-US" sz="1200">
                <a:latin typeface="Aptos"/>
                <a:ea typeface="Calibri"/>
                <a:cs typeface="Calibri"/>
              </a:rPr>
              <a:t>fixture calendar to season young players before senior level</a:t>
            </a:r>
          </a:p>
          <a:p>
            <a:pPr algn="l"/>
            <a:endParaRPr lang="id-ID">
              <a:latin typeface="Aptos"/>
              <a:ea typeface="Calibri"/>
              <a:cs typeface="Calibri"/>
            </a:endParaRPr>
          </a:p>
        </p:txBody>
      </p:sp>
      <p:sp>
        <p:nvSpPr>
          <p:cNvPr id="90" name="Persegi Panjang 11">
            <a:extLst>
              <a:ext uri="{FF2B5EF4-FFF2-40B4-BE49-F238E27FC236}">
                <a16:creationId xmlns:a16="http://schemas.microsoft.com/office/drawing/2014/main" id="{DDD175DE-9398-2C75-9E79-93C824B4764D}"/>
              </a:ext>
            </a:extLst>
          </p:cNvPr>
          <p:cNvSpPr/>
          <p:nvPr/>
        </p:nvSpPr>
        <p:spPr>
          <a:xfrm>
            <a:off x="83457" y="3962401"/>
            <a:ext cx="2269671" cy="1005113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2" name="TextBox 11">
            <a:extLst>
              <a:ext uri="{FF2B5EF4-FFF2-40B4-BE49-F238E27FC236}">
                <a16:creationId xmlns:a16="http://schemas.microsoft.com/office/drawing/2014/main" id="{1FCF1462-8352-805E-848B-30986590B149}"/>
              </a:ext>
            </a:extLst>
          </p:cNvPr>
          <p:cNvSpPr txBox="1"/>
          <p:nvPr/>
        </p:nvSpPr>
        <p:spPr>
          <a:xfrm>
            <a:off x="203200" y="3849913"/>
            <a:ext cx="21336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>
                <a:solidFill>
                  <a:srgbClr val="0057B8"/>
                </a:solidFill>
                <a:latin typeface="Aptos"/>
                <a:ea typeface="Cambria"/>
                <a:cs typeface="Cambria"/>
              </a:rPr>
              <a:t>127</a:t>
            </a:r>
            <a:endParaRPr lang="en-US" sz="4000" b="1" kern="1200">
              <a:solidFill>
                <a:srgbClr val="0057B8"/>
              </a:solidFill>
              <a:latin typeface="Aptos"/>
              <a:ea typeface="Cambria"/>
              <a:cs typeface="Cambria"/>
            </a:endParaRP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FIFA Ranking (127th,higher=worse)</a:t>
            </a:r>
          </a:p>
        </p:txBody>
      </p:sp>
      <p:sp>
        <p:nvSpPr>
          <p:cNvPr id="94" name="Persegi Panjang 11">
            <a:extLst>
              <a:ext uri="{FF2B5EF4-FFF2-40B4-BE49-F238E27FC236}">
                <a16:creationId xmlns:a16="http://schemas.microsoft.com/office/drawing/2014/main" id="{6251A750-2C9C-8FAB-8A4F-70D4CA44FB81}"/>
              </a:ext>
            </a:extLst>
          </p:cNvPr>
          <p:cNvSpPr/>
          <p:nvPr/>
        </p:nvSpPr>
        <p:spPr>
          <a:xfrm>
            <a:off x="2696028" y="3940629"/>
            <a:ext cx="2269671" cy="1005113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6" name="TextBox 11">
            <a:extLst>
              <a:ext uri="{FF2B5EF4-FFF2-40B4-BE49-F238E27FC236}">
                <a16:creationId xmlns:a16="http://schemas.microsoft.com/office/drawing/2014/main" id="{670B197C-0D20-B49F-72DB-8B47FBD641DE}"/>
              </a:ext>
            </a:extLst>
          </p:cNvPr>
          <p:cNvSpPr txBox="1"/>
          <p:nvPr/>
        </p:nvSpPr>
        <p:spPr>
          <a:xfrm>
            <a:off x="2764971" y="3900713"/>
            <a:ext cx="21336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 kern="1200">
                <a:solidFill>
                  <a:srgbClr val="0057B8"/>
                </a:solidFill>
                <a:latin typeface="Aptos"/>
                <a:ea typeface="Cambria"/>
                <a:cs typeface="Cambria"/>
              </a:rPr>
              <a:t>4</a:t>
            </a: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Registered Players Per 1,000 (vs 18-83 abroad)</a:t>
            </a:r>
          </a:p>
        </p:txBody>
      </p:sp>
      <p:sp>
        <p:nvSpPr>
          <p:cNvPr id="98" name="Persegi Panjang 11">
            <a:extLst>
              <a:ext uri="{FF2B5EF4-FFF2-40B4-BE49-F238E27FC236}">
                <a16:creationId xmlns:a16="http://schemas.microsoft.com/office/drawing/2014/main" id="{4E95A073-DFEF-EEEB-EC59-B7FC68E56183}"/>
              </a:ext>
            </a:extLst>
          </p:cNvPr>
          <p:cNvSpPr/>
          <p:nvPr/>
        </p:nvSpPr>
        <p:spPr>
          <a:xfrm>
            <a:off x="134257" y="5101771"/>
            <a:ext cx="2269671" cy="1005113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B23F5E46-0DFA-EE61-DDF6-3E6ABC597C3B}"/>
              </a:ext>
            </a:extLst>
          </p:cNvPr>
          <p:cNvSpPr txBox="1"/>
          <p:nvPr/>
        </p:nvSpPr>
        <p:spPr>
          <a:xfrm>
            <a:off x="174171" y="5061855"/>
            <a:ext cx="21336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>
                <a:solidFill>
                  <a:srgbClr val="0057B8"/>
                </a:solidFill>
                <a:latin typeface="Aptos"/>
                <a:ea typeface="Cambria"/>
                <a:cs typeface="Cambria"/>
              </a:rPr>
              <a:t>7</a:t>
            </a:r>
            <a:endParaRPr lang="en-US" sz="4000" b="1" kern="1200">
              <a:solidFill>
                <a:srgbClr val="0057B8"/>
              </a:solidFill>
              <a:latin typeface="Aptos"/>
              <a:ea typeface="Cambria"/>
              <a:cs typeface="Cambria"/>
            </a:endParaRP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Suitable Stadiums</a:t>
            </a: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(of 12-16 needed)</a:t>
            </a:r>
          </a:p>
        </p:txBody>
      </p:sp>
      <p:sp>
        <p:nvSpPr>
          <p:cNvPr id="102" name="Persegi Panjang 11">
            <a:extLst>
              <a:ext uri="{FF2B5EF4-FFF2-40B4-BE49-F238E27FC236}">
                <a16:creationId xmlns:a16="http://schemas.microsoft.com/office/drawing/2014/main" id="{84AFB4CE-C346-EE99-DCE2-5F8C9C67AF28}"/>
              </a:ext>
            </a:extLst>
          </p:cNvPr>
          <p:cNvSpPr/>
          <p:nvPr/>
        </p:nvSpPr>
        <p:spPr>
          <a:xfrm>
            <a:off x="2717799" y="5152571"/>
            <a:ext cx="2269671" cy="1005113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4" name="TextBox 11">
            <a:extLst>
              <a:ext uri="{FF2B5EF4-FFF2-40B4-BE49-F238E27FC236}">
                <a16:creationId xmlns:a16="http://schemas.microsoft.com/office/drawing/2014/main" id="{6B3BCE46-719E-FC8A-F9AB-B0A2899B9A5D}"/>
              </a:ext>
            </a:extLst>
          </p:cNvPr>
          <p:cNvSpPr txBox="1"/>
          <p:nvPr/>
        </p:nvSpPr>
        <p:spPr>
          <a:xfrm>
            <a:off x="2764971" y="5061855"/>
            <a:ext cx="21336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4000" b="1">
                <a:solidFill>
                  <a:srgbClr val="0057B8"/>
                </a:solidFill>
                <a:latin typeface="Aptos"/>
                <a:ea typeface="Cambria"/>
                <a:cs typeface="Cambria"/>
              </a:rPr>
              <a:t>9</a:t>
            </a:r>
            <a:endParaRPr lang="en-US" sz="4000" b="1" kern="1200">
              <a:solidFill>
                <a:srgbClr val="0057B8"/>
              </a:solidFill>
              <a:latin typeface="Aptos"/>
              <a:ea typeface="Cambria"/>
              <a:cs typeface="Cambria"/>
            </a:endParaRP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Sponsorship Share%</a:t>
            </a:r>
          </a:p>
          <a:p>
            <a:pPr algn="ctr"/>
            <a:r>
              <a:rPr lang="en-US" sz="1200" b="1">
                <a:solidFill>
                  <a:srgbClr val="0057B8"/>
                </a:solidFill>
                <a:latin typeface="Aptos Display"/>
                <a:ea typeface="+mn-lt"/>
                <a:cs typeface="+mn-lt"/>
              </a:rPr>
              <a:t>(vs cricket 80-85%)</a:t>
            </a:r>
          </a:p>
        </p:txBody>
      </p:sp>
    </p:spTree>
    <p:extLst>
      <p:ext uri="{BB962C8B-B14F-4D97-AF65-F5344CB8AC3E}">
        <p14:creationId xmlns:p14="http://schemas.microsoft.com/office/powerpoint/2010/main" val="77663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394" y="759968"/>
            <a:ext cx="11365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2030 PRIORITY</a:t>
            </a:r>
            <a:endParaRPr lang="en-US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53423" y="910627"/>
            <a:ext cx="113659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wins on a weighted scoring basis, not by elimination alone</a:t>
            </a:r>
            <a:endParaRPr lang="en-US" sz="16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876307"/>
              </p:ext>
            </p:extLst>
          </p:nvPr>
        </p:nvGraphicFramePr>
        <p:xfrm>
          <a:off x="411483" y="1361441"/>
          <a:ext cx="6204471" cy="4017725"/>
        </p:xfrm>
        <a:graphic>
          <a:graphicData uri="http://schemas.openxmlformats.org/drawingml/2006/table">
            <a:tbl>
              <a:tblPr/>
              <a:tblGrid>
                <a:gridCol w="246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Criterion (weight)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Hosting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Qualification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Olympic Success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Feasibility by 2030 (30%)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Compounding value to 2046 (25%)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Capital efficiency (20%)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FIFA mandate fit (15%)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Institutional readiness (10%)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Weighted total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1.95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4.00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2.40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057571" y="4513329"/>
            <a:ext cx="4692469" cy="484094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JUDGES WILL LOOK FOR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057572" y="4996807"/>
            <a:ext cx="4663440" cy="1591591"/>
          </a:xfrm>
          <a:prstGeom prst="rect">
            <a:avLst/>
          </a:prstGeom>
          <a:solidFill>
            <a:schemeClr val="bg1"/>
          </a:solidFill>
          <a:ln>
            <a:solidFill>
              <a:srgbClr val="0057B8"/>
            </a:solidFill>
          </a:ln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1200">
                <a:latin typeface="Calibri"/>
                <a:ea typeface="Calibri"/>
                <a:cs typeface="Calibri"/>
              </a:rPr>
              <a:t>Olympic success scores respectably on feasibility and institutional readiness, India is already in the IOC's "continuous dialogue" phase for Ahmedabad 2036, with a final decision due by mid 2029 and a stated top-5 medal-table ambition (vs. 71st-place, six-medal finish at Paris 2024). It loses on compounding value and FIFA-mandate fit, but it will keep competing for the same sponsorship pool and political bandwidth football needs. </a:t>
            </a:r>
          </a:p>
        </p:txBody>
      </p:sp>
      <p:sp>
        <p:nvSpPr>
          <p:cNvPr id="13" name="Text 19"/>
          <p:cNvSpPr/>
          <p:nvPr/>
        </p:nvSpPr>
        <p:spPr>
          <a:xfrm>
            <a:off x="396967" y="5497126"/>
            <a:ext cx="6204471" cy="28817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50"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/>
          </a:p>
        </p:txBody>
      </p:sp>
      <p:sp>
        <p:nvSpPr>
          <p:cNvPr id="14" name="Text 20"/>
          <p:cNvSpPr/>
          <p:nvPr/>
        </p:nvSpPr>
        <p:spPr>
          <a:xfrm>
            <a:off x="396968" y="5788596"/>
            <a:ext cx="6204470" cy="95220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rtlCol="0" anchor="t"/>
          <a:lstStyle/>
          <a:p>
            <a:pPr algn="ctr">
              <a:lnSpc>
                <a:spcPct val="110000"/>
              </a:lnSpc>
            </a:pPr>
            <a:r>
              <a:rPr lang="en-US" sz="1300"/>
              <a:t>Qualification isn't the "safe" or "obvious" choice — it wins because it's the only objective whose investment compounds toward every later milestone (hosting credibility, sponsorship share, the 2047 legacy), even though Olympic success is currently more politically funded.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F2F00A-6987-BA90-AD3B-329D77314285}"/>
              </a:ext>
            </a:extLst>
          </p:cNvPr>
          <p:cNvCxnSpPr>
            <a:cxnSpLocks/>
          </p:cNvCxnSpPr>
          <p:nvPr/>
        </p:nvCxnSpPr>
        <p:spPr>
          <a:xfrm>
            <a:off x="6825876" y="1023241"/>
            <a:ext cx="0" cy="5238585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32794BF-947D-3B3E-6959-B47133563FB6}"/>
              </a:ext>
            </a:extLst>
          </p:cNvPr>
          <p:cNvSpPr/>
          <p:nvPr/>
        </p:nvSpPr>
        <p:spPr>
          <a:xfrm>
            <a:off x="0" y="659032"/>
            <a:ext cx="330008" cy="4320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1DCAEEC-BA5C-5123-0ED6-39E47508316C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8057A9EE-D151-A5D1-F7ED-A723CD70A309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/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0" b="1">
                <a:solidFill>
                  <a:schemeClr val="bg1"/>
                </a:solidFill>
              </a:rPr>
              <a:t>DIAGNOSIS</a:t>
            </a:r>
            <a:endParaRPr lang="en-US" sz="23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43A454A2-6005-3274-02F7-8DC604E61F07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OPERATIONS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08A6979E-B45F-1B18-3654-D871D1341CFC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ECONOMICS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F24BF88C-6862-E286-7F7F-69A29F10B505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IMPROVEMENTS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A0C88-0A2A-CA10-DE86-090952B0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1" y="1363434"/>
            <a:ext cx="4898573" cy="30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730D03-DF83-F2CE-A732-5A739DFEED10}"/>
              </a:ext>
            </a:extLst>
          </p:cNvPr>
          <p:cNvSpPr/>
          <p:nvPr/>
        </p:nvSpPr>
        <p:spPr>
          <a:xfrm>
            <a:off x="0" y="640019"/>
            <a:ext cx="316704" cy="474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6FA94-96C7-3A01-E765-F40B1C725B80}"/>
              </a:ext>
            </a:extLst>
          </p:cNvPr>
          <p:cNvSpPr txBox="1"/>
          <p:nvPr/>
        </p:nvSpPr>
        <p:spPr>
          <a:xfrm>
            <a:off x="319314" y="714830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F5597"/>
                </a:solidFill>
                <a:latin typeface="Calibri"/>
              </a:rPr>
              <a:t>WHEN CAN INDIA REALISTICALLY QUALIFY </a:t>
            </a:r>
            <a:endParaRPr lang="en-US" sz="1600">
              <a:ea typeface="Calibri"/>
              <a:cs typeface="Calibri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F40B7CC6-8A2D-EB72-8F83-D856D57A2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42341"/>
              </p:ext>
            </p:extLst>
          </p:nvPr>
        </p:nvGraphicFramePr>
        <p:xfrm>
          <a:off x="333828" y="1037771"/>
          <a:ext cx="6482384" cy="2515736"/>
        </p:xfrm>
        <a:graphic>
          <a:graphicData uri="http://schemas.openxmlformats.org/drawingml/2006/table">
            <a:tbl>
              <a:tblPr/>
              <a:tblGrid>
                <a:gridCol w="2254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632">
                  <a:extLst>
                    <a:ext uri="{9D8B030D-6E8A-4147-A177-3AD203B41FA5}">
                      <a16:colId xmlns:a16="http://schemas.microsoft.com/office/drawing/2014/main" val="3788900398"/>
                    </a:ext>
                  </a:extLst>
                </a:gridCol>
              </a:tblGrid>
              <a:tr h="69649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Reform Trigger</a:t>
                      </a: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Breakthrough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Lag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Japan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J-League professionalized, 1993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First World Cup,1998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5 yrs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Saudi Arabia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Vision 2030 launched, 2016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Qualified for 2026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10 yrs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Morocco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Academy founded, 2009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WC Semi-Final, 2022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13 yrs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India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Proposed Start, 2026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Projected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</a:rPr>
                        <a:t>∼ 20 yrs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9354A8-90ED-DD7E-ADB0-C143A8498438}"/>
              </a:ext>
            </a:extLst>
          </p:cNvPr>
          <p:cNvSpPr txBox="1"/>
          <p:nvPr/>
        </p:nvSpPr>
        <p:spPr>
          <a:xfrm>
            <a:off x="333828" y="3501573"/>
            <a:ext cx="6233885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1" kern="1200">
                <a:solidFill>
                  <a:srgbClr val="6B7280"/>
                </a:solidFill>
                <a:latin typeface="Aptos Display"/>
                <a:ea typeface="Calibri"/>
                <a:cs typeface="Calibri"/>
              </a:rPr>
              <a:t>India's starting gap (4 players/1,000) is larger than any comparator's starting point — averaging their lags would understate the timeline</a:t>
            </a:r>
            <a:endParaRPr lang="en-US" sz="1400" b="1">
              <a:latin typeface="Aptos Display"/>
            </a:endParaRPr>
          </a:p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012C0E-BAB4-D89E-B3E5-9A87EE13D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894" y="704850"/>
            <a:ext cx="4748439" cy="3343729"/>
          </a:xfrm>
          <a:prstGeom prst="rect">
            <a:avLst/>
          </a:prstGeom>
        </p:spPr>
      </p:pic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548487BB-4B38-F77C-DFD9-A277A6814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690655"/>
              </p:ext>
            </p:extLst>
          </p:nvPr>
        </p:nvGraphicFramePr>
        <p:xfrm>
          <a:off x="319314" y="4049486"/>
          <a:ext cx="11233642" cy="1908627"/>
        </p:xfrm>
        <a:graphic>
          <a:graphicData uri="http://schemas.openxmlformats.org/drawingml/2006/table">
            <a:tbl>
              <a:tblPr/>
              <a:tblGrid>
                <a:gridCol w="160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8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95">
                  <a:extLst>
                    <a:ext uri="{9D8B030D-6E8A-4147-A177-3AD203B41FA5}">
                      <a16:colId xmlns:a16="http://schemas.microsoft.com/office/drawing/2014/main" val="3788900398"/>
                    </a:ext>
                  </a:extLst>
                </a:gridCol>
              </a:tblGrid>
              <a:tr h="544285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Logic</a:t>
                      </a:r>
                      <a:endParaRPr lang="en-US" sz="12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Bull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Japan's pace, adjusted for India's larger gap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2042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Base (recommended)</a:t>
                      </a:r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Two full cycles: density building, then competitive conversion</a:t>
                      </a:r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2046</a:t>
                      </a:r>
                    </a:p>
                  </a:txBody>
                  <a:tcPr anchor="ctr">
                    <a:lnL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66197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Bear</a:t>
                      </a:r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India repeats its 2014-2026 pattern: no grassroots reform</a:t>
                      </a:r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Beyond 2050</a:t>
                      </a:r>
                    </a:p>
                  </a:txBody>
                  <a:tcPr anchor="ctr">
                    <a:lnL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2E5E9"/>
                      </a:solidFill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07493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79295E2-9AA1-AD06-B2D4-76290B642138}"/>
              </a:ext>
            </a:extLst>
          </p:cNvPr>
          <p:cNvSpPr txBox="1"/>
          <p:nvPr/>
        </p:nvSpPr>
        <p:spPr>
          <a:xfrm>
            <a:off x="2782435" y="5956130"/>
            <a:ext cx="630581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1F7A5C"/>
                </a:solidFill>
                <a:latin typeface="Cambria"/>
                <a:ea typeface="Cambria"/>
              </a:rPr>
              <a:t>Earliest realistic qualification year: 2046</a:t>
            </a:r>
            <a:endParaRPr lang="en-US" sz="2000"/>
          </a:p>
          <a:p>
            <a:pPr algn="l"/>
            <a:endParaRPr lang="en-US">
              <a:ea typeface="Calibri"/>
              <a:cs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065EBAF-A105-2B08-B76E-B955BEF61583}"/>
              </a:ext>
            </a:extLst>
          </p:cNvPr>
          <p:cNvCxnSpPr/>
          <p:nvPr/>
        </p:nvCxnSpPr>
        <p:spPr>
          <a:xfrm>
            <a:off x="-26435" y="6428404"/>
            <a:ext cx="12189034" cy="2756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7952E3-335A-4D29-9653-B1D91471AEAB}"/>
              </a:ext>
            </a:extLst>
          </p:cNvPr>
          <p:cNvSpPr txBox="1"/>
          <p:nvPr/>
        </p:nvSpPr>
        <p:spPr>
          <a:xfrm>
            <a:off x="413657" y="6389914"/>
            <a:ext cx="120033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1" u="none" strike="noStrike" baseline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A straight average of Japan, Saudi Arabia, and Morocco puts India at ~2036 — we reject that number because none of them started 4x below the </a:t>
            </a:r>
            <a:r>
              <a:rPr lang="en-US" sz="1400" i="1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next-lowest comparator's</a:t>
            </a:r>
            <a:r>
              <a:rPr lang="en-US" sz="1400" b="0" i="1" u="none" strike="noStrike" baseline="0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 density</a:t>
            </a:r>
            <a:r>
              <a:rPr lang="en-US" sz="1400" i="1">
                <a:solidFill>
                  <a:srgbClr val="000000"/>
                </a:solidFill>
                <a:latin typeface="Aptos Display"/>
                <a:ea typeface="Segoe UI"/>
                <a:cs typeface="Segoe UI"/>
              </a:rPr>
              <a:t>.</a:t>
            </a:r>
            <a:endParaRPr lang="en-US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0A6D131E-111B-64EB-FFDC-130ADEBEA47D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1AA3E4E5-28EC-A5CF-0EA8-8E315A468BBB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/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300" b="1">
                <a:solidFill>
                  <a:schemeClr val="bg1"/>
                </a:solidFill>
              </a:rPr>
              <a:t>DIAGNOSIS</a:t>
            </a:r>
            <a:endParaRPr lang="en-US" sz="23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021B0976-C71D-87E3-4A37-199799E0D95A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OPERATIONS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D63CE4CA-07CC-806F-C434-45CD06CD1E52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ECONOMICS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534383D6-5855-2DE8-4C20-A7E52C3B35C6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IMPROVEMENTS</a:t>
            </a:r>
          </a:p>
        </p:txBody>
      </p:sp>
    </p:spTree>
    <p:extLst>
      <p:ext uri="{BB962C8B-B14F-4D97-AF65-F5344CB8AC3E}">
        <p14:creationId xmlns:p14="http://schemas.microsoft.com/office/powerpoint/2010/main" val="2427633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AD5918-5F71-4D9F-01D5-5402014C80DC}"/>
              </a:ext>
            </a:extLst>
          </p:cNvPr>
          <p:cNvSpPr txBox="1"/>
          <p:nvPr/>
        </p:nvSpPr>
        <p:spPr>
          <a:xfrm>
            <a:off x="319314" y="1005117"/>
            <a:ext cx="1184365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Aptos Display"/>
                <a:ea typeface="+mn-lt"/>
                <a:cs typeface="+mn-lt"/>
              </a:rPr>
              <a:t>A multi-country hosting model enables India to close its infrastructure gap while accelerating long-term football development.</a:t>
            </a:r>
            <a:endParaRPr lang="en-US" sz="2200" b="1">
              <a:latin typeface="Aptos Display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5E634-982A-E5C5-3F3E-0218E9B11053}"/>
              </a:ext>
            </a:extLst>
          </p:cNvPr>
          <p:cNvSpPr txBox="1"/>
          <p:nvPr/>
        </p:nvSpPr>
        <p:spPr>
          <a:xfrm>
            <a:off x="319314" y="671286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E75B6"/>
                </a:solidFill>
                <a:latin typeface="Calibri"/>
                <a:ea typeface="Calibri"/>
                <a:cs typeface="Calibri"/>
              </a:rPr>
              <a:t>FIFA WORLD CUP HOSTING STRATEGY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FCA0A3-50D1-B298-EACD-8CDE51E1B1F0}"/>
              </a:ext>
            </a:extLst>
          </p:cNvPr>
          <p:cNvSpPr/>
          <p:nvPr/>
        </p:nvSpPr>
        <p:spPr>
          <a:xfrm>
            <a:off x="6412802" y="1776883"/>
            <a:ext cx="190500" cy="439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A07E7-3135-CDE8-725C-A2D835BF541A}"/>
              </a:ext>
            </a:extLst>
          </p:cNvPr>
          <p:cNvSpPr txBox="1"/>
          <p:nvPr/>
        </p:nvSpPr>
        <p:spPr>
          <a:xfrm>
            <a:off x="6691087" y="1774371"/>
            <a:ext cx="31641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+mn-lt"/>
                <a:cs typeface="+mn-lt"/>
              </a:rPr>
              <a:t>Current Condition  (India)</a:t>
            </a:r>
            <a:endParaRPr lang="en-US" b="1">
              <a:latin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5DDDA-5B11-F206-F27E-79C2C54212CA}"/>
              </a:ext>
            </a:extLst>
          </p:cNvPr>
          <p:cNvSpPr/>
          <p:nvPr/>
        </p:nvSpPr>
        <p:spPr>
          <a:xfrm>
            <a:off x="6506117" y="3041356"/>
            <a:ext cx="2714387" cy="445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ptos"/>
                <a:ea typeface="+mn-lt"/>
                <a:cs typeface="+mn-lt"/>
              </a:rPr>
              <a:t>12–16 host stadiums</a:t>
            </a:r>
            <a:endParaRPr lang="en-US" sz="1600">
              <a:solidFill>
                <a:schemeClr val="tx1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208DC-3ADF-AF97-C63C-E02D711E6A79}"/>
              </a:ext>
            </a:extLst>
          </p:cNvPr>
          <p:cNvSpPr/>
          <p:nvPr/>
        </p:nvSpPr>
        <p:spPr>
          <a:xfrm>
            <a:off x="6498860" y="3694498"/>
            <a:ext cx="2699873" cy="47438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ptos Display"/>
                <a:ea typeface="+mn-lt"/>
                <a:cs typeface="+mn-lt"/>
              </a:rPr>
              <a:t>≥80,000-seat final venue</a:t>
            </a:r>
            <a:endParaRPr lang="en-US" sz="1600">
              <a:solidFill>
                <a:schemeClr val="tx1"/>
              </a:solidFill>
              <a:latin typeface="Aptos Display"/>
              <a:ea typeface="Calibri"/>
              <a:cs typeface="Angsana New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3469AC-E899-A2DB-1275-649599BA1719}"/>
              </a:ext>
            </a:extLst>
          </p:cNvPr>
          <p:cNvSpPr/>
          <p:nvPr/>
        </p:nvSpPr>
        <p:spPr>
          <a:xfrm>
            <a:off x="715944" y="1951053"/>
            <a:ext cx="190500" cy="439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5F471-DAA7-BB39-01F7-06E16ABD900E}"/>
              </a:ext>
            </a:extLst>
          </p:cNvPr>
          <p:cNvSpPr txBox="1"/>
          <p:nvPr/>
        </p:nvSpPr>
        <p:spPr>
          <a:xfrm>
            <a:off x="1016000" y="1912256"/>
            <a:ext cx="288108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ptos"/>
                <a:ea typeface="Calibri"/>
                <a:cs typeface="Calibri"/>
              </a:rPr>
              <a:t>World Cup Hosting Cost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FF77B1-FE67-6BA7-9673-B6E07F26D609}"/>
              </a:ext>
            </a:extLst>
          </p:cNvPr>
          <p:cNvSpPr/>
          <p:nvPr/>
        </p:nvSpPr>
        <p:spPr>
          <a:xfrm>
            <a:off x="621600" y="5492538"/>
            <a:ext cx="5161644" cy="12088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778DB-40EF-E61A-BC28-5C05DF406F4D}"/>
              </a:ext>
            </a:extLst>
          </p:cNvPr>
          <p:cNvSpPr txBox="1"/>
          <p:nvPr/>
        </p:nvSpPr>
        <p:spPr>
          <a:xfrm>
            <a:off x="624114" y="5076370"/>
            <a:ext cx="293913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Aptos"/>
                <a:ea typeface="Calibri"/>
                <a:cs typeface="Calibri"/>
              </a:rPr>
              <a:t>Key Takeaway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3F7F43-9A11-373E-51BA-0D80C3DD002C}"/>
              </a:ext>
            </a:extLst>
          </p:cNvPr>
          <p:cNvSpPr txBox="1"/>
          <p:nvPr/>
        </p:nvSpPr>
        <p:spPr>
          <a:xfrm>
            <a:off x="805542" y="5577114"/>
            <a:ext cx="476794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latin typeface="Aptos Display"/>
                <a:ea typeface="+mn-lt"/>
                <a:cs typeface="+mn-lt"/>
              </a:rPr>
              <a:t>A multi-country bid is India's most realistic pathway to host the FIFA World Cup while preserving financial resources to build a stronger football ecosystem for the future.</a:t>
            </a:r>
            <a:endParaRPr lang="en-US" sz="1600">
              <a:latin typeface="Aptos Display"/>
              <a:ea typeface="Calibri"/>
              <a:cs typeface="Calibri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AA044E7-F4C3-22C9-F55A-B4CDF0661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5362779"/>
              </p:ext>
            </p:extLst>
          </p:nvPr>
        </p:nvGraphicFramePr>
        <p:xfrm>
          <a:off x="399142" y="2415268"/>
          <a:ext cx="5471885" cy="2549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BCACEC9E-DA1D-F4DF-B825-0C85CCF9E1A3}"/>
              </a:ext>
            </a:extLst>
          </p:cNvPr>
          <p:cNvSpPr/>
          <p:nvPr/>
        </p:nvSpPr>
        <p:spPr>
          <a:xfrm>
            <a:off x="6565197" y="5267565"/>
            <a:ext cx="5372101" cy="14483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B90E9-6480-3126-4E5C-B242319F4F78}"/>
              </a:ext>
            </a:extLst>
          </p:cNvPr>
          <p:cNvSpPr txBox="1"/>
          <p:nvPr/>
        </p:nvSpPr>
        <p:spPr>
          <a:xfrm>
            <a:off x="6444342" y="4887687"/>
            <a:ext cx="394062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Why Multi-Country Hosting?</a:t>
            </a:r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DBDDDB-3951-C571-9231-8D2380A5703D}"/>
              </a:ext>
            </a:extLst>
          </p:cNvPr>
          <p:cNvSpPr/>
          <p:nvPr/>
        </p:nvSpPr>
        <p:spPr>
          <a:xfrm>
            <a:off x="6498858" y="4318610"/>
            <a:ext cx="2692618" cy="48163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Aptos Display"/>
                <a:ea typeface="+mn-lt"/>
                <a:cs typeface="+mn-lt"/>
              </a:rPr>
              <a:t>60+ training facilities</a:t>
            </a:r>
            <a:endParaRPr lang="en-US">
              <a:solidFill>
                <a:schemeClr val="tx1"/>
              </a:solidFill>
              <a:latin typeface="Aptos Display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3F578F-60F7-5E79-DB83-F39FBFE1BB82}"/>
              </a:ext>
            </a:extLst>
          </p:cNvPr>
          <p:cNvSpPr/>
          <p:nvPr/>
        </p:nvSpPr>
        <p:spPr>
          <a:xfrm>
            <a:off x="9401715" y="3694501"/>
            <a:ext cx="2518446" cy="47437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Na-Mo Stadium, India's largest, is cricket-centric and not football-eligible</a:t>
            </a: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6285B5-7BAB-972F-AA67-1742423C0D29}"/>
              </a:ext>
            </a:extLst>
          </p:cNvPr>
          <p:cNvSpPr/>
          <p:nvPr/>
        </p:nvSpPr>
        <p:spPr>
          <a:xfrm>
            <a:off x="9401714" y="4318610"/>
            <a:ext cx="2547475" cy="5034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Significant infrastructure gap</a:t>
            </a:r>
            <a:endParaRPr lang="en-US" sz="1600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314F3C4-C0A4-9E82-7065-8FF180FBD8DC}"/>
              </a:ext>
            </a:extLst>
          </p:cNvPr>
          <p:cNvCxnSpPr/>
          <p:nvPr/>
        </p:nvCxnSpPr>
        <p:spPr>
          <a:xfrm flipH="1">
            <a:off x="6148753" y="1769347"/>
            <a:ext cx="21771" cy="496388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4DD3780-1041-2975-87D3-854E7CE93361}"/>
              </a:ext>
            </a:extLst>
          </p:cNvPr>
          <p:cNvSpPr/>
          <p:nvPr/>
        </p:nvSpPr>
        <p:spPr>
          <a:xfrm>
            <a:off x="6600460" y="2366440"/>
            <a:ext cx="2489415" cy="481637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FIFA Requirement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AC32A6-D373-5125-CE0A-CCB87935AEA8}"/>
              </a:ext>
            </a:extLst>
          </p:cNvPr>
          <p:cNvSpPr/>
          <p:nvPr/>
        </p:nvSpPr>
        <p:spPr>
          <a:xfrm>
            <a:off x="9416231" y="2351926"/>
            <a:ext cx="2503929" cy="496151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Current Condition (India)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CE5ACF-3DCE-CD88-230F-232930AEF205}"/>
              </a:ext>
            </a:extLst>
          </p:cNvPr>
          <p:cNvSpPr/>
          <p:nvPr/>
        </p:nvSpPr>
        <p:spPr>
          <a:xfrm>
            <a:off x="9408972" y="2990557"/>
            <a:ext cx="2540217" cy="53969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4-5 FIFA-ready stadiums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33C3CE-7C61-35C9-DB1B-FB72EE1FF641}"/>
              </a:ext>
            </a:extLst>
          </p:cNvPr>
          <p:cNvSpPr txBox="1"/>
          <p:nvPr/>
        </p:nvSpPr>
        <p:spPr>
          <a:xfrm>
            <a:off x="6778169" y="5388428"/>
            <a:ext cx="476794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Reduce the need for </a:t>
            </a:r>
            <a:r>
              <a:rPr lang="en-US" sz="1600" b="1">
                <a:ea typeface="+mn-lt"/>
                <a:cs typeface="+mn-lt"/>
              </a:rPr>
              <a:t>7–11</a:t>
            </a:r>
            <a:r>
              <a:rPr lang="en-US" sz="1600">
                <a:ea typeface="+mn-lt"/>
                <a:cs typeface="+mn-lt"/>
              </a:rPr>
              <a:t> new stadiums.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Share infrastructure costs and invest more in football development.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Replicate the successful </a:t>
            </a:r>
            <a:r>
              <a:rPr lang="en-US" sz="1600" b="1">
                <a:ea typeface="+mn-lt"/>
                <a:cs typeface="+mn-lt"/>
              </a:rPr>
              <a:t>2026</a:t>
            </a:r>
            <a:r>
              <a:rPr lang="en-US" sz="1600">
                <a:ea typeface="+mn-lt"/>
                <a:cs typeface="+mn-lt"/>
              </a:rPr>
              <a:t> and </a:t>
            </a:r>
            <a:r>
              <a:rPr lang="en-US" sz="1600" b="1">
                <a:ea typeface="+mn-lt"/>
                <a:cs typeface="+mn-lt"/>
              </a:rPr>
              <a:t>2030</a:t>
            </a:r>
            <a:r>
              <a:rPr lang="en-US" sz="1600">
                <a:ea typeface="+mn-lt"/>
                <a:cs typeface="+mn-lt"/>
              </a:rPr>
              <a:t> co-hosting model.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14E7501-56C1-7009-136D-B3665179BA72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749BABFB-E36B-D4FD-BBBE-900547A2DE86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OPERATIONS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AD831C62-5FCB-E6F8-F361-8FADB7314185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4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ECONOMICS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9FEC9F1C-7B46-AC2D-E917-64F9970EBFE7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IMPROVEMENTS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CD5ACF2D-A8E1-6FE4-349A-1A34A561997F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DIAGNOSIS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AD342-1503-5835-C56A-C6CB200E3E5D}"/>
              </a:ext>
            </a:extLst>
          </p:cNvPr>
          <p:cNvSpPr/>
          <p:nvPr/>
        </p:nvSpPr>
        <p:spPr>
          <a:xfrm>
            <a:off x="0" y="640019"/>
            <a:ext cx="316704" cy="474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2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503E189C-8A5F-DEA0-3971-61D5C7222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880853"/>
              </p:ext>
            </p:extLst>
          </p:nvPr>
        </p:nvGraphicFramePr>
        <p:xfrm>
          <a:off x="5544457" y="791028"/>
          <a:ext cx="6557766" cy="3566160"/>
        </p:xfrm>
        <a:graphic>
          <a:graphicData uri="http://schemas.openxmlformats.org/drawingml/2006/table">
            <a:tbl>
              <a:tblPr/>
              <a:tblGrid>
                <a:gridCol w="3513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170">
                  <a:extLst>
                    <a:ext uri="{9D8B030D-6E8A-4147-A177-3AD203B41FA5}">
                      <a16:colId xmlns:a16="http://schemas.microsoft.com/office/drawing/2014/main" val="2578298564"/>
                    </a:ext>
                  </a:extLst>
                </a:gridCol>
                <a:gridCol w="924159">
                  <a:extLst>
                    <a:ext uri="{9D8B030D-6E8A-4147-A177-3AD203B41FA5}">
                      <a16:colId xmlns:a16="http://schemas.microsoft.com/office/drawing/2014/main" val="1076795029"/>
                    </a:ext>
                  </a:extLst>
                </a:gridCol>
              </a:tblGrid>
              <a:tr h="32932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Wave 1</a:t>
                      </a:r>
                      <a:endParaRPr lang="en-US" sz="160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Wave 2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E2E5E9"/>
                      </a:solidFill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  <a:endParaRPr lang="en-US"/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Grassroots and Talent ID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1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latin typeface="Aptos Display"/>
                        </a:rPr>
                        <a:t>Closes the widest gap in the diagnosis (4 vs 18-83 players/1000).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28,000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6,000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34,000</a:t>
                      </a:r>
                      <a:endParaRPr lang="en-US"/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Coaching and Elite Performance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latin typeface="Aptos Display"/>
                        </a:rPr>
                        <a:t>Converts grassroots volume into senior-team quality.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16,000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6,000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22,000</a:t>
                      </a:r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Infrastructure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latin typeface="Aptos Display"/>
                        </a:rPr>
                        <a:t>81% backloaded to Wave 2- scales only once the pipeline is proven.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13,000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16,000</a:t>
                      </a:r>
                      <a:endParaRPr lang="en-US"/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Sports Data and Analytics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latin typeface="Aptos Display"/>
                        </a:rPr>
                        <a:t>Split evenly—fixes the 'no data-driven scouting' root cause.</a:t>
                      </a:r>
                      <a:endParaRPr lang="en-US" sz="1050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8,000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8,000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16,000</a:t>
                      </a:r>
                      <a:endParaRPr lang="en-US"/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Governance and Sponsorship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sz="1050" b="0" i="1" u="none" strike="noStrike" noProof="0">
                          <a:solidFill>
                            <a:schemeClr val="tx1">
                              <a:lumMod val="76000"/>
                              <a:lumOff val="24000"/>
                            </a:schemeClr>
                          </a:solidFill>
                          <a:latin typeface="Aptos Display"/>
                        </a:rPr>
                        <a:t>Smallest share, but –--Rs. 4-5cr lands first--- everything else is gated on it.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8,000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4,000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12,000</a:t>
                      </a:r>
                      <a:endParaRPr lang="en-US"/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4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Wave Total ( </a:t>
                      </a:r>
                      <a:r>
                        <a:rPr lang="en-US" sz="16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₹ Crore)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63,000 (63%)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37,000 (37%)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100,000</a:t>
                      </a:r>
                    </a:p>
                  </a:txBody>
                  <a:tcPr anchor="ctr">
                    <a:lnL w="9524">
                      <a:solidFill>
                        <a:srgbClr val="E2E5E9"/>
                      </a:solidFill>
                    </a:lnL>
                    <a:lnR w="9524">
                      <a:solidFill>
                        <a:srgbClr val="E2E5E9"/>
                      </a:solidFill>
                    </a:lnR>
                    <a:lnT w="9524">
                      <a:solidFill>
                        <a:srgbClr val="E2E5E9"/>
                      </a:solidFill>
                    </a:lnT>
                    <a:lnB w="9524">
                      <a:solidFill>
                        <a:srgbClr val="E2E5E9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DE8C5FB3-BBAE-A6F5-5811-A32B57843AA3}"/>
              </a:ext>
            </a:extLst>
          </p:cNvPr>
          <p:cNvSpPr/>
          <p:nvPr/>
        </p:nvSpPr>
        <p:spPr>
          <a:xfrm>
            <a:off x="0" y="654533"/>
            <a:ext cx="316704" cy="474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8C2A4-B865-1FEA-8F8F-8F5718CBAC1F}"/>
              </a:ext>
            </a:extLst>
          </p:cNvPr>
          <p:cNvSpPr txBox="1"/>
          <p:nvPr/>
        </p:nvSpPr>
        <p:spPr>
          <a:xfrm>
            <a:off x="319314" y="729344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E75B6"/>
                </a:solidFill>
                <a:latin typeface="Calibri"/>
                <a:ea typeface="Calibri"/>
                <a:cs typeface="Calibri"/>
              </a:rPr>
              <a:t>FUNDING THE PLAN</a:t>
            </a:r>
            <a:r>
              <a:rPr sz="16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CD5DA0-0916-B397-E314-0B0BB53CF977}"/>
              </a:ext>
            </a:extLst>
          </p:cNvPr>
          <p:cNvSpPr txBox="1"/>
          <p:nvPr/>
        </p:nvSpPr>
        <p:spPr>
          <a:xfrm>
            <a:off x="377373" y="3661227"/>
            <a:ext cx="518885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1200" i="1" kern="1200">
                <a:solidFill>
                  <a:srgbClr val="6B7280"/>
                </a:solidFill>
                <a:latin typeface="Aptos Display"/>
                <a:ea typeface="Calibri"/>
                <a:cs typeface="Calibri"/>
              </a:rPr>
              <a:t>Sequencing: front-load ~₹4,000-5,000 </a:t>
            </a:r>
            <a:r>
              <a:rPr lang="en-US" sz="1200" i="1" kern="1200" err="1">
                <a:solidFill>
                  <a:srgbClr val="6B7280"/>
                </a:solidFill>
                <a:latin typeface="Aptos Display"/>
                <a:ea typeface="Calibri"/>
                <a:cs typeface="Calibri"/>
              </a:rPr>
              <a:t>cr</a:t>
            </a:r>
            <a:r>
              <a:rPr lang="en-US" sz="1200" i="1" kern="1200">
                <a:solidFill>
                  <a:srgbClr val="6B7280"/>
                </a:solidFill>
                <a:latin typeface="Aptos Display"/>
                <a:ea typeface="Calibri"/>
                <a:cs typeface="Calibri"/>
              </a:rPr>
              <a:t> of governance reform into 2026-2029, ahead of the rest of Wave 1 — an institution that can't manage ₹50 crore without a deficit can't absorb ₹34,000 crore without administrative reform first.</a:t>
            </a:r>
          </a:p>
          <a:p>
            <a:pPr algn="ctr"/>
            <a:endParaRPr lang="en-US" sz="1200">
              <a:latin typeface="Aptos Display"/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51557F-6515-7A15-B4B1-126F6EFACFF1}"/>
              </a:ext>
            </a:extLst>
          </p:cNvPr>
          <p:cNvSpPr txBox="1"/>
          <p:nvPr/>
        </p:nvSpPr>
        <p:spPr>
          <a:xfrm>
            <a:off x="318710" y="1066398"/>
            <a:ext cx="46011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1">
                <a:solidFill>
                  <a:srgbClr val="5A6478"/>
                </a:solidFill>
                <a:latin typeface="Calibri"/>
                <a:ea typeface="+mn-lt"/>
                <a:cs typeface="+mn-lt"/>
              </a:rPr>
              <a:t>₹100,000 crore · 20-year horizon · 2026 – 2046</a:t>
            </a:r>
            <a:endParaRPr lang="en-US" sz="1200" b="1">
              <a:latin typeface="Calibri"/>
              <a:ea typeface="+mn-lt"/>
              <a:cs typeface="+mn-lt"/>
            </a:endParaRPr>
          </a:p>
          <a:p>
            <a:endParaRPr lang="en-US" sz="1200" b="1">
              <a:latin typeface="Aptos Display"/>
              <a:ea typeface="Calibri"/>
              <a:cs typeface="Calibri"/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42D3F5DD-8C1D-60FC-F00E-D8FEFA6CF84A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F64E8BE-5E5F-A93B-E282-5BBC19039205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OPERATIONS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075549B5-4E9A-8DB7-9B18-B6036C8C980B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IMPROVEMENTS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87D0E8A3-4453-D9D5-5B5A-20A3C2396F34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DIAGNOSIS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5BECE743-676B-648C-BA24-CA5747A36821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ECONOMICS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9" name="Chart 0">
            <a:extLst>
              <a:ext uri="{FF2B5EF4-FFF2-40B4-BE49-F238E27FC236}">
                <a16:creationId xmlns:a16="http://schemas.microsoft.com/office/drawing/2014/main" id="{5E762FCE-8897-828A-C6A4-7CB3CA7DDA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4888767"/>
              </p:ext>
            </p:extLst>
          </p:nvPr>
        </p:nvGraphicFramePr>
        <p:xfrm>
          <a:off x="409883" y="1328638"/>
          <a:ext cx="49377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Chart 1">
            <a:extLst>
              <a:ext uri="{FF2B5EF4-FFF2-40B4-BE49-F238E27FC236}">
                <a16:creationId xmlns:a16="http://schemas.microsoft.com/office/drawing/2014/main" id="{FB607BEE-1B7D-E759-1AEC-A55851A89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1419292"/>
              </p:ext>
            </p:extLst>
          </p:nvPr>
        </p:nvGraphicFramePr>
        <p:xfrm>
          <a:off x="533255" y="4312775"/>
          <a:ext cx="5032102" cy="1658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15">
            <a:extLst>
              <a:ext uri="{FF2B5EF4-FFF2-40B4-BE49-F238E27FC236}">
                <a16:creationId xmlns:a16="http://schemas.microsoft.com/office/drawing/2014/main" id="{3BE30091-7D0E-7A18-A613-027D837E4488}"/>
              </a:ext>
            </a:extLst>
          </p:cNvPr>
          <p:cNvSpPr/>
          <p:nvPr/>
        </p:nvSpPr>
        <p:spPr>
          <a:xfrm>
            <a:off x="9065043" y="4444564"/>
            <a:ext cx="2966429" cy="885953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DE6"/>
            </a:solidFill>
            <a:prstDash val="solid"/>
          </a:ln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AA947045-74FC-AA54-EEC5-01EEC8FD32A5}"/>
              </a:ext>
            </a:extLst>
          </p:cNvPr>
          <p:cNvSpPr/>
          <p:nvPr/>
        </p:nvSpPr>
        <p:spPr>
          <a:xfrm>
            <a:off x="9211056" y="4412634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₹35/person</a:t>
            </a:r>
            <a:endParaRPr lang="en-US" sz="260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57EA5FCC-EC7A-6CE0-10FB-ECF9E6DAB91A}"/>
              </a:ext>
            </a:extLst>
          </p:cNvPr>
          <p:cNvSpPr/>
          <p:nvPr/>
        </p:nvSpPr>
        <p:spPr>
          <a:xfrm>
            <a:off x="9211056" y="4847215"/>
            <a:ext cx="2761488" cy="414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Indian · per year · over the full 20-yr program</a:t>
            </a:r>
            <a:endParaRPr lang="en-US" sz="85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F7EB2426-E94E-976E-499B-D5013046FAE9}"/>
              </a:ext>
            </a:extLst>
          </p:cNvPr>
          <p:cNvSpPr/>
          <p:nvPr/>
        </p:nvSpPr>
        <p:spPr>
          <a:xfrm>
            <a:off x="6050426" y="4444564"/>
            <a:ext cx="2988201" cy="885953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DE6"/>
            </a:solidFill>
            <a:prstDash val="solid"/>
          </a:ln>
        </p:spPr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C3E8DFF-51A5-0B41-566A-6C3074C4A0BD}"/>
              </a:ext>
            </a:extLst>
          </p:cNvPr>
          <p:cNvSpPr/>
          <p:nvPr/>
        </p:nvSpPr>
        <p:spPr>
          <a:xfrm>
            <a:off x="6167411" y="4412633"/>
            <a:ext cx="2761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260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F844B6B9-8A81-01A9-CCC2-4486902649F3}"/>
              </a:ext>
            </a:extLst>
          </p:cNvPr>
          <p:cNvSpPr/>
          <p:nvPr/>
        </p:nvSpPr>
        <p:spPr>
          <a:xfrm>
            <a:off x="6109354" y="4847214"/>
            <a:ext cx="2761488" cy="414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AIFF's current annual budget (~₹50–60 cr/yr)</a:t>
            </a:r>
            <a:endParaRPr lang="en-US" sz="850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3F6F4164-136C-BB39-15AC-A7212F046EFD}"/>
              </a:ext>
            </a:extLst>
          </p:cNvPr>
          <p:cNvSpPr/>
          <p:nvPr/>
        </p:nvSpPr>
        <p:spPr>
          <a:xfrm>
            <a:off x="5847225" y="6388898"/>
            <a:ext cx="6089904" cy="475488"/>
          </a:xfrm>
          <a:prstGeom prst="roundRect">
            <a:avLst>
              <a:gd name="adj" fmla="val 15385"/>
            </a:avLst>
          </a:prstGeom>
          <a:solidFill>
            <a:srgbClr val="D0EDE5"/>
          </a:solidFill>
          <a:ln w="9525">
            <a:solidFill>
              <a:srgbClr val="0F7A5A"/>
            </a:solidFill>
            <a:prstDash val="solid"/>
          </a:ln>
        </p:spPr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7B05A2CF-C99C-B297-2FF6-77CC3DE8681A}"/>
              </a:ext>
            </a:extLst>
          </p:cNvPr>
          <p:cNvSpPr/>
          <p:nvPr/>
        </p:nvSpPr>
        <p:spPr>
          <a:xfrm>
            <a:off x="5808617" y="6388898"/>
            <a:ext cx="5779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>
                <a:solidFill>
                  <a:srgbClr val="0F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thought: under ₹35/person/year — the constraint is absorption capacity, not money.</a:t>
            </a:r>
            <a:endParaRPr lang="en-US" sz="100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148B7629-8395-CFBE-7FD4-97860E67182C}"/>
              </a:ext>
            </a:extLst>
          </p:cNvPr>
          <p:cNvSpPr/>
          <p:nvPr/>
        </p:nvSpPr>
        <p:spPr>
          <a:xfrm>
            <a:off x="5839969" y="5304246"/>
            <a:ext cx="6089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funding mix (suggested, not sourced)</a:t>
            </a:r>
            <a:endParaRPr lang="en-US" sz="100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BB499281-6B37-CAF7-B3C0-CF65AF456E08}"/>
              </a:ext>
            </a:extLst>
          </p:cNvPr>
          <p:cNvSpPr/>
          <p:nvPr/>
        </p:nvSpPr>
        <p:spPr>
          <a:xfrm>
            <a:off x="5847225" y="5565938"/>
            <a:ext cx="3044952" cy="402336"/>
          </a:xfrm>
          <a:prstGeom prst="rect">
            <a:avLst/>
          </a:prstGeom>
          <a:solidFill>
            <a:srgbClr val="1557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E9C04378-B5E7-96E7-9995-C1393FA1F765}"/>
              </a:ext>
            </a:extLst>
          </p:cNvPr>
          <p:cNvSpPr/>
          <p:nvPr/>
        </p:nvSpPr>
        <p:spPr>
          <a:xfrm>
            <a:off x="8884920" y="5565938"/>
            <a:ext cx="1828800" cy="402336"/>
          </a:xfrm>
          <a:prstGeom prst="rect">
            <a:avLst/>
          </a:prstGeom>
          <a:solidFill>
            <a:srgbClr val="0F7A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97A8B9F5-FC47-AA2B-D563-9CDB107613E3}"/>
              </a:ext>
            </a:extLst>
          </p:cNvPr>
          <p:cNvSpPr/>
          <p:nvPr/>
        </p:nvSpPr>
        <p:spPr>
          <a:xfrm>
            <a:off x="10713720" y="5565938"/>
            <a:ext cx="1216152" cy="402336"/>
          </a:xfrm>
          <a:prstGeom prst="rect">
            <a:avLst/>
          </a:prstGeom>
          <a:solidFill>
            <a:srgbClr val="E891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DAF41E-F568-3F4B-5566-F8E2D02E9937}"/>
              </a:ext>
            </a:extLst>
          </p:cNvPr>
          <p:cNvSpPr txBox="1"/>
          <p:nvPr/>
        </p:nvSpPr>
        <p:spPr>
          <a:xfrm>
            <a:off x="4325257" y="5127171"/>
            <a:ext cx="6096000" cy="238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50" b="1" i="0" u="none" strike="noStrike" baseline="0">
                <a:solidFill>
                  <a:srgbClr val="FFFFFF"/>
                </a:solidFill>
                <a:latin typeface="Calibri"/>
              </a:rPr>
              <a:t>Govt 50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18359A-2374-8985-F84C-A3F0075974C7}"/>
              </a:ext>
            </a:extLst>
          </p:cNvPr>
          <p:cNvSpPr txBox="1"/>
          <p:nvPr/>
        </p:nvSpPr>
        <p:spPr>
          <a:xfrm>
            <a:off x="6480755" y="5641975"/>
            <a:ext cx="15619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Govt 50%</a:t>
            </a:r>
            <a:endParaRPr lang="en-US" sz="10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1F8888-D113-CFD0-2A6E-749A73187F6C}"/>
              </a:ext>
            </a:extLst>
          </p:cNvPr>
          <p:cNvSpPr txBox="1"/>
          <p:nvPr/>
        </p:nvSpPr>
        <p:spPr>
          <a:xfrm>
            <a:off x="8962697" y="5641974"/>
            <a:ext cx="15619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CSR 30%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B8530B-9624-4C91-DB7C-E5DE2E0623EE}"/>
              </a:ext>
            </a:extLst>
          </p:cNvPr>
          <p:cNvSpPr txBox="1"/>
          <p:nvPr/>
        </p:nvSpPr>
        <p:spPr>
          <a:xfrm>
            <a:off x="10544754" y="5641974"/>
            <a:ext cx="156197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Grants 20%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US" sz="1000" b="1">
              <a:solidFill>
                <a:srgbClr val="FFFFFF"/>
              </a:solidFill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0EA95DEC-81B5-24FA-BE91-6EF6B89C4BB9}"/>
              </a:ext>
            </a:extLst>
          </p:cNvPr>
          <p:cNvSpPr/>
          <p:nvPr/>
        </p:nvSpPr>
        <p:spPr>
          <a:xfrm>
            <a:off x="5839968" y="5965081"/>
            <a:ext cx="6089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(Sports Ministry + states) · Corporate CSR / sponsorship · FIFA/AFC development grants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287906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22943B-3214-21C3-0B61-D9B7BC852740}"/>
              </a:ext>
            </a:extLst>
          </p:cNvPr>
          <p:cNvSpPr/>
          <p:nvPr/>
        </p:nvSpPr>
        <p:spPr>
          <a:xfrm>
            <a:off x="0" y="654532"/>
            <a:ext cx="316704" cy="474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47B2A-95D6-D483-3F78-FF8059FAFFFC}"/>
              </a:ext>
            </a:extLst>
          </p:cNvPr>
          <p:cNvSpPr txBox="1"/>
          <p:nvPr/>
        </p:nvSpPr>
        <p:spPr>
          <a:xfrm>
            <a:off x="319314" y="722086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E75B6"/>
                </a:solidFill>
                <a:latin typeface="Calibri"/>
                <a:ea typeface="Calibri"/>
                <a:cs typeface="Segoe UI"/>
              </a:rPr>
              <a:t>THE ROADMAP TO 2046</a:t>
            </a:r>
            <a:endParaRPr lang="en-US" sz="1600" b="1" i="0">
              <a:solidFill>
                <a:srgbClr val="2E75B6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5D3AE09D-7C83-907C-A8AD-3E095AD761C8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C2E2A06-862E-0D4B-51CF-1CB10155DDC7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4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IMPROVEMENTS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3EE8E8E9-82AE-B6AC-C9E2-16C16889BC48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DIAGNOSIS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6EC1086-AFD6-A8E2-D3DD-FF5DE0AC33EE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ECONOMICS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06043F0-30E2-9E67-5E47-1172C180A725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OPERATIONS</a:t>
            </a:r>
          </a:p>
        </p:txBody>
      </p:sp>
      <p:sp>
        <p:nvSpPr>
          <p:cNvPr id="983" name="Shape 11">
            <a:extLst>
              <a:ext uri="{FF2B5EF4-FFF2-40B4-BE49-F238E27FC236}">
                <a16:creationId xmlns:a16="http://schemas.microsoft.com/office/drawing/2014/main" id="{34DEF1D9-7E72-F828-28B8-0893A5A60118}"/>
              </a:ext>
            </a:extLst>
          </p:cNvPr>
          <p:cNvSpPr/>
          <p:nvPr/>
        </p:nvSpPr>
        <p:spPr>
          <a:xfrm>
            <a:off x="2254794" y="1725168"/>
            <a:ext cx="1188720" cy="676656"/>
          </a:xfrm>
          <a:prstGeom prst="triangle">
            <a:avLst/>
          </a:prstGeom>
          <a:solidFill>
            <a:srgbClr val="1557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85" name="Text 12">
            <a:extLst>
              <a:ext uri="{FF2B5EF4-FFF2-40B4-BE49-F238E27FC236}">
                <a16:creationId xmlns:a16="http://schemas.microsoft.com/office/drawing/2014/main" id="{2B13E710-F0A0-6A57-317C-292B1B31192B}"/>
              </a:ext>
            </a:extLst>
          </p:cNvPr>
          <p:cNvSpPr/>
          <p:nvPr/>
        </p:nvSpPr>
        <p:spPr>
          <a:xfrm>
            <a:off x="2276565" y="1884825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2046</a:t>
            </a:r>
            <a:endParaRPr lang="en-US" sz="1400"/>
          </a:p>
        </p:txBody>
      </p:sp>
      <p:sp>
        <p:nvSpPr>
          <p:cNvPr id="987" name="Shape 13">
            <a:extLst>
              <a:ext uri="{FF2B5EF4-FFF2-40B4-BE49-F238E27FC236}">
                <a16:creationId xmlns:a16="http://schemas.microsoft.com/office/drawing/2014/main" id="{54AFB987-955E-B9E7-E31E-DCB98D25AB26}"/>
              </a:ext>
            </a:extLst>
          </p:cNvPr>
          <p:cNvSpPr/>
          <p:nvPr/>
        </p:nvSpPr>
        <p:spPr>
          <a:xfrm flipV="1">
            <a:off x="1797594" y="2401824"/>
            <a:ext cx="2103120" cy="676656"/>
          </a:xfrm>
          <a:prstGeom prst="trapezoid">
            <a:avLst/>
          </a:prstGeom>
          <a:solidFill>
            <a:srgbClr val="1557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89" name="Text 14">
            <a:extLst>
              <a:ext uri="{FF2B5EF4-FFF2-40B4-BE49-F238E27FC236}">
                <a16:creationId xmlns:a16="http://schemas.microsoft.com/office/drawing/2014/main" id="{5EBC857E-B168-F2C9-8FF9-530240CE6265}"/>
              </a:ext>
            </a:extLst>
          </p:cNvPr>
          <p:cNvSpPr/>
          <p:nvPr/>
        </p:nvSpPr>
        <p:spPr>
          <a:xfrm>
            <a:off x="1797594" y="2554224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</a:t>
            </a:r>
            <a:endParaRPr lang="en-US" sz="1400"/>
          </a:p>
        </p:txBody>
      </p:sp>
      <p:sp>
        <p:nvSpPr>
          <p:cNvPr id="991" name="Shape 15">
            <a:extLst>
              <a:ext uri="{FF2B5EF4-FFF2-40B4-BE49-F238E27FC236}">
                <a16:creationId xmlns:a16="http://schemas.microsoft.com/office/drawing/2014/main" id="{E8FA431F-B565-8FB2-2835-4FF99186F5CE}"/>
              </a:ext>
            </a:extLst>
          </p:cNvPr>
          <p:cNvSpPr/>
          <p:nvPr/>
        </p:nvSpPr>
        <p:spPr>
          <a:xfrm flipV="1">
            <a:off x="1340394" y="3078480"/>
            <a:ext cx="3017520" cy="676656"/>
          </a:xfrm>
          <a:prstGeom prst="trapezoid">
            <a:avLst/>
          </a:prstGeom>
          <a:solidFill>
            <a:srgbClr val="1557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93" name="Text 16">
            <a:extLst>
              <a:ext uri="{FF2B5EF4-FFF2-40B4-BE49-F238E27FC236}">
                <a16:creationId xmlns:a16="http://schemas.microsoft.com/office/drawing/2014/main" id="{9087A057-6A35-6C5E-7265-12FF37F46764}"/>
              </a:ext>
            </a:extLst>
          </p:cNvPr>
          <p:cNvSpPr/>
          <p:nvPr/>
        </p:nvSpPr>
        <p:spPr>
          <a:xfrm>
            <a:off x="1318623" y="3245394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2036</a:t>
            </a:r>
            <a:endParaRPr lang="en-US" sz="1400"/>
          </a:p>
        </p:txBody>
      </p:sp>
      <p:sp>
        <p:nvSpPr>
          <p:cNvPr id="995" name="Shape 17">
            <a:extLst>
              <a:ext uri="{FF2B5EF4-FFF2-40B4-BE49-F238E27FC236}">
                <a16:creationId xmlns:a16="http://schemas.microsoft.com/office/drawing/2014/main" id="{F0E6E6E9-2489-7C28-C5E1-4E2C9FDFB047}"/>
              </a:ext>
            </a:extLst>
          </p:cNvPr>
          <p:cNvSpPr/>
          <p:nvPr/>
        </p:nvSpPr>
        <p:spPr>
          <a:xfrm flipV="1">
            <a:off x="883194" y="3755136"/>
            <a:ext cx="3931920" cy="676656"/>
          </a:xfrm>
          <a:prstGeom prst="trapezoid">
            <a:avLst/>
          </a:prstGeom>
          <a:solidFill>
            <a:srgbClr val="2776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97" name="Text 18">
            <a:extLst>
              <a:ext uri="{FF2B5EF4-FFF2-40B4-BE49-F238E27FC236}">
                <a16:creationId xmlns:a16="http://schemas.microsoft.com/office/drawing/2014/main" id="{FDB7EE2B-BE4A-823E-4003-180F0986C3F0}"/>
              </a:ext>
            </a:extLst>
          </p:cNvPr>
          <p:cNvSpPr/>
          <p:nvPr/>
        </p:nvSpPr>
        <p:spPr>
          <a:xfrm>
            <a:off x="861423" y="3907536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/>
          </a:p>
        </p:txBody>
      </p:sp>
      <p:sp>
        <p:nvSpPr>
          <p:cNvPr id="999" name="Shape 19">
            <a:extLst>
              <a:ext uri="{FF2B5EF4-FFF2-40B4-BE49-F238E27FC236}">
                <a16:creationId xmlns:a16="http://schemas.microsoft.com/office/drawing/2014/main" id="{7808A859-4490-1755-320B-634100DF5500}"/>
              </a:ext>
            </a:extLst>
          </p:cNvPr>
          <p:cNvSpPr/>
          <p:nvPr/>
        </p:nvSpPr>
        <p:spPr>
          <a:xfrm flipV="1">
            <a:off x="425994" y="4431792"/>
            <a:ext cx="4846320" cy="676656"/>
          </a:xfrm>
          <a:prstGeom prst="trapezoid">
            <a:avLst/>
          </a:prstGeom>
          <a:solidFill>
            <a:srgbClr val="A8C8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01" name="Text 20">
            <a:extLst>
              <a:ext uri="{FF2B5EF4-FFF2-40B4-BE49-F238E27FC236}">
                <a16:creationId xmlns:a16="http://schemas.microsoft.com/office/drawing/2014/main" id="{DD4E5D5B-D655-E892-89FF-910F35E09D75}"/>
              </a:ext>
            </a:extLst>
          </p:cNvPr>
          <p:cNvSpPr/>
          <p:nvPr/>
        </p:nvSpPr>
        <p:spPr>
          <a:xfrm>
            <a:off x="411480" y="4533392"/>
            <a:ext cx="4846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/>
          </a:p>
        </p:txBody>
      </p:sp>
      <p:sp>
        <p:nvSpPr>
          <p:cNvPr id="1003" name="Shape 25">
            <a:extLst>
              <a:ext uri="{FF2B5EF4-FFF2-40B4-BE49-F238E27FC236}">
                <a16:creationId xmlns:a16="http://schemas.microsoft.com/office/drawing/2014/main" id="{0074A431-1AC0-38FF-16DF-4E3703ABE3A4}"/>
              </a:ext>
            </a:extLst>
          </p:cNvPr>
          <p:cNvSpPr/>
          <p:nvPr/>
        </p:nvSpPr>
        <p:spPr>
          <a:xfrm>
            <a:off x="5866674" y="1725168"/>
            <a:ext cx="59893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A8C8F0"/>
            </a:solidFill>
            <a:prstDash val="solid"/>
          </a:ln>
        </p:spPr>
      </p:sp>
      <p:sp>
        <p:nvSpPr>
          <p:cNvPr id="1005" name="Shape 26">
            <a:extLst>
              <a:ext uri="{FF2B5EF4-FFF2-40B4-BE49-F238E27FC236}">
                <a16:creationId xmlns:a16="http://schemas.microsoft.com/office/drawing/2014/main" id="{21116B9B-F3E5-DA19-B0B2-74CF5BCFB447}"/>
              </a:ext>
            </a:extLst>
          </p:cNvPr>
          <p:cNvSpPr/>
          <p:nvPr/>
        </p:nvSpPr>
        <p:spPr>
          <a:xfrm>
            <a:off x="5866674" y="1725168"/>
            <a:ext cx="64008" cy="493776"/>
          </a:xfrm>
          <a:prstGeom prst="roundRect">
            <a:avLst>
              <a:gd name="adj" fmla="val 57143"/>
            </a:avLst>
          </a:prstGeom>
          <a:solidFill>
            <a:srgbClr val="1557B0"/>
          </a:solidFill>
          <a:ln/>
        </p:spPr>
      </p:sp>
      <p:sp>
        <p:nvSpPr>
          <p:cNvPr id="1007" name="Text 27">
            <a:extLst>
              <a:ext uri="{FF2B5EF4-FFF2-40B4-BE49-F238E27FC236}">
                <a16:creationId xmlns:a16="http://schemas.microsoft.com/office/drawing/2014/main" id="{7A01AB87-5D8D-5045-7B92-A83FF1A14BF6}"/>
              </a:ext>
            </a:extLst>
          </p:cNvPr>
          <p:cNvSpPr/>
          <p:nvPr/>
        </p:nvSpPr>
        <p:spPr>
          <a:xfrm>
            <a:off x="6031266" y="1770888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2046 · Target milestone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09" name="Text 28">
            <a:extLst>
              <a:ext uri="{FF2B5EF4-FFF2-40B4-BE49-F238E27FC236}">
                <a16:creationId xmlns:a16="http://schemas.microsoft.com/office/drawing/2014/main" id="{A33C0988-E1BD-955A-EF05-CD8BFAF2D15D}"/>
              </a:ext>
            </a:extLst>
          </p:cNvPr>
          <p:cNvSpPr/>
          <p:nvPr/>
        </p:nvSpPr>
        <p:spPr>
          <a:xfrm>
            <a:off x="6031266" y="1981200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Qualification &amp; hosting bid readiness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11" name="Shape 29">
            <a:extLst>
              <a:ext uri="{FF2B5EF4-FFF2-40B4-BE49-F238E27FC236}">
                <a16:creationId xmlns:a16="http://schemas.microsoft.com/office/drawing/2014/main" id="{47F2E533-0137-D847-F20B-6E9F98BBEB39}"/>
              </a:ext>
            </a:extLst>
          </p:cNvPr>
          <p:cNvSpPr/>
          <p:nvPr/>
        </p:nvSpPr>
        <p:spPr>
          <a:xfrm>
            <a:off x="5866674" y="2365248"/>
            <a:ext cx="5989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8C4C0"/>
            </a:solidFill>
            <a:prstDash val="solid"/>
          </a:ln>
        </p:spPr>
      </p:sp>
      <p:sp>
        <p:nvSpPr>
          <p:cNvPr id="1013" name="Shape 30">
            <a:extLst>
              <a:ext uri="{FF2B5EF4-FFF2-40B4-BE49-F238E27FC236}">
                <a16:creationId xmlns:a16="http://schemas.microsoft.com/office/drawing/2014/main" id="{FD209417-3BFC-25B1-5E15-922ADA04631E}"/>
              </a:ext>
            </a:extLst>
          </p:cNvPr>
          <p:cNvSpPr/>
          <p:nvPr/>
        </p:nvSpPr>
        <p:spPr>
          <a:xfrm>
            <a:off x="5866674" y="2365248"/>
            <a:ext cx="64008" cy="749808"/>
          </a:xfrm>
          <a:prstGeom prst="roundRect">
            <a:avLst>
              <a:gd name="adj" fmla="val 57143"/>
            </a:avLst>
          </a:prstGeom>
          <a:solidFill>
            <a:srgbClr val="C0392B"/>
          </a:solidFill>
          <a:ln/>
        </p:spPr>
      </p:sp>
      <p:sp>
        <p:nvSpPr>
          <p:cNvPr id="1015" name="Text 31">
            <a:extLst>
              <a:ext uri="{FF2B5EF4-FFF2-40B4-BE49-F238E27FC236}">
                <a16:creationId xmlns:a16="http://schemas.microsoft.com/office/drawing/2014/main" id="{660087B4-B035-991A-082C-95D53A7F99BA}"/>
              </a:ext>
            </a:extLst>
          </p:cNvPr>
          <p:cNvSpPr/>
          <p:nvPr/>
        </p:nvSpPr>
        <p:spPr>
          <a:xfrm>
            <a:off x="6031266" y="2410968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2040 · Checkpoint two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17" name="Text 32">
            <a:extLst>
              <a:ext uri="{FF2B5EF4-FFF2-40B4-BE49-F238E27FC236}">
                <a16:creationId xmlns:a16="http://schemas.microsoft.com/office/drawing/2014/main" id="{2111DAA0-A3F3-80D1-E6EF-779308DA1A74}"/>
              </a:ext>
            </a:extLst>
          </p:cNvPr>
          <p:cNvSpPr/>
          <p:nvPr/>
        </p:nvSpPr>
        <p:spPr>
          <a:xfrm>
            <a:off x="6031266" y="2621280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Players 20+/1,000 · Ranking top 60–70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19" name="Shape 33">
            <a:extLst>
              <a:ext uri="{FF2B5EF4-FFF2-40B4-BE49-F238E27FC236}">
                <a16:creationId xmlns:a16="http://schemas.microsoft.com/office/drawing/2014/main" id="{9CE5035A-8DF3-ABBC-A15B-36E33B842621}"/>
              </a:ext>
            </a:extLst>
          </p:cNvPr>
          <p:cNvSpPr/>
          <p:nvPr/>
        </p:nvSpPr>
        <p:spPr>
          <a:xfrm>
            <a:off x="6031266" y="2822448"/>
            <a:ext cx="5733288" cy="237744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/>
        </p:spPr>
      </p:sp>
      <p:sp>
        <p:nvSpPr>
          <p:cNvPr id="1021" name="Text 34">
            <a:extLst>
              <a:ext uri="{FF2B5EF4-FFF2-40B4-BE49-F238E27FC236}">
                <a16:creationId xmlns:a16="http://schemas.microsoft.com/office/drawing/2014/main" id="{C95DF44E-81FA-4AB3-897B-CA6D5C7FC410}"/>
              </a:ext>
            </a:extLst>
          </p:cNvPr>
          <p:cNvSpPr/>
          <p:nvPr/>
        </p:nvSpPr>
        <p:spPr>
          <a:xfrm>
            <a:off x="6086130" y="2813304"/>
            <a:ext cx="5660136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⚠  Not competitive at 3rd-round level → retarget as infrastructure legacy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023" name="Shape 35">
            <a:extLst>
              <a:ext uri="{FF2B5EF4-FFF2-40B4-BE49-F238E27FC236}">
                <a16:creationId xmlns:a16="http://schemas.microsoft.com/office/drawing/2014/main" id="{1F120A04-F9A3-4140-0104-D0CB3DBA96EA}"/>
              </a:ext>
            </a:extLst>
          </p:cNvPr>
          <p:cNvSpPr/>
          <p:nvPr/>
        </p:nvSpPr>
        <p:spPr>
          <a:xfrm>
            <a:off x="5866674" y="3261360"/>
            <a:ext cx="59893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A8C8F0"/>
            </a:solidFill>
            <a:prstDash val="solid"/>
          </a:ln>
        </p:spPr>
      </p:sp>
      <p:sp>
        <p:nvSpPr>
          <p:cNvPr id="1025" name="Shape 36">
            <a:extLst>
              <a:ext uri="{FF2B5EF4-FFF2-40B4-BE49-F238E27FC236}">
                <a16:creationId xmlns:a16="http://schemas.microsoft.com/office/drawing/2014/main" id="{80484B80-624E-1372-DD1E-F4BBC618243C}"/>
              </a:ext>
            </a:extLst>
          </p:cNvPr>
          <p:cNvSpPr/>
          <p:nvPr/>
        </p:nvSpPr>
        <p:spPr>
          <a:xfrm>
            <a:off x="5866674" y="3261360"/>
            <a:ext cx="64008" cy="493776"/>
          </a:xfrm>
          <a:prstGeom prst="roundRect">
            <a:avLst>
              <a:gd name="adj" fmla="val 57143"/>
            </a:avLst>
          </a:prstGeom>
          <a:solidFill>
            <a:srgbClr val="1557B0"/>
          </a:solidFill>
          <a:ln/>
        </p:spPr>
      </p:sp>
      <p:sp>
        <p:nvSpPr>
          <p:cNvPr id="1027" name="Text 37">
            <a:extLst>
              <a:ext uri="{FF2B5EF4-FFF2-40B4-BE49-F238E27FC236}">
                <a16:creationId xmlns:a16="http://schemas.microsoft.com/office/drawing/2014/main" id="{0ACE3411-3D58-90E3-9929-CD6E67B8795E}"/>
              </a:ext>
            </a:extLst>
          </p:cNvPr>
          <p:cNvSpPr/>
          <p:nvPr/>
        </p:nvSpPr>
        <p:spPr>
          <a:xfrm>
            <a:off x="6031266" y="3307080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2036 · Wave 2 begins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29" name="Text 38">
            <a:extLst>
              <a:ext uri="{FF2B5EF4-FFF2-40B4-BE49-F238E27FC236}">
                <a16:creationId xmlns:a16="http://schemas.microsoft.com/office/drawing/2014/main" id="{C75253A7-8513-5E3A-898C-64B416F97A7E}"/>
              </a:ext>
            </a:extLst>
          </p:cNvPr>
          <p:cNvSpPr/>
          <p:nvPr/>
        </p:nvSpPr>
        <p:spPr>
          <a:xfrm>
            <a:off x="6031266" y="3517392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Infrastructure scale-up starts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31" name="Shape 39">
            <a:extLst>
              <a:ext uri="{FF2B5EF4-FFF2-40B4-BE49-F238E27FC236}">
                <a16:creationId xmlns:a16="http://schemas.microsoft.com/office/drawing/2014/main" id="{8D4F35E5-74C6-DF31-34EC-FB8E81B29EB6}"/>
              </a:ext>
            </a:extLst>
          </p:cNvPr>
          <p:cNvSpPr/>
          <p:nvPr/>
        </p:nvSpPr>
        <p:spPr>
          <a:xfrm>
            <a:off x="5866674" y="3883152"/>
            <a:ext cx="59893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9525">
            <a:solidFill>
              <a:srgbClr val="E8C4C0"/>
            </a:solidFill>
            <a:prstDash val="solid"/>
          </a:ln>
        </p:spPr>
      </p:sp>
      <p:sp>
        <p:nvSpPr>
          <p:cNvPr id="1033" name="Shape 40">
            <a:extLst>
              <a:ext uri="{FF2B5EF4-FFF2-40B4-BE49-F238E27FC236}">
                <a16:creationId xmlns:a16="http://schemas.microsoft.com/office/drawing/2014/main" id="{8D17D0A7-6A94-86F7-5342-A93C1CE3A17D}"/>
              </a:ext>
            </a:extLst>
          </p:cNvPr>
          <p:cNvSpPr/>
          <p:nvPr/>
        </p:nvSpPr>
        <p:spPr>
          <a:xfrm>
            <a:off x="5866674" y="3883152"/>
            <a:ext cx="64008" cy="585216"/>
          </a:xfrm>
          <a:prstGeom prst="roundRect">
            <a:avLst>
              <a:gd name="adj" fmla="val 57143"/>
            </a:avLst>
          </a:prstGeom>
          <a:solidFill>
            <a:srgbClr val="C0392B"/>
          </a:solidFill>
          <a:ln/>
        </p:spPr>
      </p:sp>
      <p:sp>
        <p:nvSpPr>
          <p:cNvPr id="1035" name="Text 41">
            <a:extLst>
              <a:ext uri="{FF2B5EF4-FFF2-40B4-BE49-F238E27FC236}">
                <a16:creationId xmlns:a16="http://schemas.microsoft.com/office/drawing/2014/main" id="{F4AFBBB2-8F4E-8454-5ED6-5DB287357AFE}"/>
              </a:ext>
            </a:extLst>
          </p:cNvPr>
          <p:cNvSpPr/>
          <p:nvPr/>
        </p:nvSpPr>
        <p:spPr>
          <a:xfrm>
            <a:off x="6031266" y="3928872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2035 · Interim checkpoint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37" name="Text 42">
            <a:extLst>
              <a:ext uri="{FF2B5EF4-FFF2-40B4-BE49-F238E27FC236}">
                <a16:creationId xmlns:a16="http://schemas.microsoft.com/office/drawing/2014/main" id="{82CFB281-F169-79E5-6EEF-990BC51AF9BA}"/>
              </a:ext>
            </a:extLst>
          </p:cNvPr>
          <p:cNvSpPr/>
          <p:nvPr/>
        </p:nvSpPr>
        <p:spPr>
          <a:xfrm>
            <a:off x="6031266" y="4139184"/>
            <a:ext cx="5733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15+/1,000 · Ranking top 90–100</a:t>
            </a:r>
            <a:endParaRPr lang="en-US" sz="900"/>
          </a:p>
        </p:txBody>
      </p:sp>
      <p:sp>
        <p:nvSpPr>
          <p:cNvPr id="1039" name="Shape 43">
            <a:extLst>
              <a:ext uri="{FF2B5EF4-FFF2-40B4-BE49-F238E27FC236}">
                <a16:creationId xmlns:a16="http://schemas.microsoft.com/office/drawing/2014/main" id="{ED886173-1DAC-5ABB-ABB2-9A19B47C588A}"/>
              </a:ext>
            </a:extLst>
          </p:cNvPr>
          <p:cNvSpPr/>
          <p:nvPr/>
        </p:nvSpPr>
        <p:spPr>
          <a:xfrm>
            <a:off x="6031266" y="4175760"/>
            <a:ext cx="5733288" cy="237744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/>
        </p:spPr>
      </p:sp>
      <p:sp>
        <p:nvSpPr>
          <p:cNvPr id="1041" name="Text 44">
            <a:extLst>
              <a:ext uri="{FF2B5EF4-FFF2-40B4-BE49-F238E27FC236}">
                <a16:creationId xmlns:a16="http://schemas.microsoft.com/office/drawing/2014/main" id="{50D57B43-AA74-E6A3-327E-639D7C15E504}"/>
              </a:ext>
            </a:extLst>
          </p:cNvPr>
          <p:cNvSpPr/>
          <p:nvPr/>
        </p:nvSpPr>
        <p:spPr>
          <a:xfrm>
            <a:off x="6086130" y="4166616"/>
            <a:ext cx="5660136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⚠  No continental competitiveness → shift to legacy narrative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043" name="Shape 45">
            <a:extLst>
              <a:ext uri="{FF2B5EF4-FFF2-40B4-BE49-F238E27FC236}">
                <a16:creationId xmlns:a16="http://schemas.microsoft.com/office/drawing/2014/main" id="{90C0BC6E-1B43-EA4C-6B40-EA998925FBDB}"/>
              </a:ext>
            </a:extLst>
          </p:cNvPr>
          <p:cNvSpPr/>
          <p:nvPr/>
        </p:nvSpPr>
        <p:spPr>
          <a:xfrm>
            <a:off x="5866674" y="4632960"/>
            <a:ext cx="59893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8C4C0"/>
            </a:solidFill>
            <a:prstDash val="solid"/>
          </a:ln>
        </p:spPr>
      </p:sp>
      <p:sp>
        <p:nvSpPr>
          <p:cNvPr id="1045" name="Shape 46">
            <a:extLst>
              <a:ext uri="{FF2B5EF4-FFF2-40B4-BE49-F238E27FC236}">
                <a16:creationId xmlns:a16="http://schemas.microsoft.com/office/drawing/2014/main" id="{FC701636-D528-E42C-C7C1-E0A704D511F2}"/>
              </a:ext>
            </a:extLst>
          </p:cNvPr>
          <p:cNvSpPr/>
          <p:nvPr/>
        </p:nvSpPr>
        <p:spPr>
          <a:xfrm>
            <a:off x="5866674" y="4632960"/>
            <a:ext cx="64008" cy="749808"/>
          </a:xfrm>
          <a:prstGeom prst="roundRect">
            <a:avLst>
              <a:gd name="adj" fmla="val 57143"/>
            </a:avLst>
          </a:prstGeom>
          <a:solidFill>
            <a:srgbClr val="C0392B"/>
          </a:solidFill>
          <a:ln/>
        </p:spPr>
      </p:sp>
      <p:sp>
        <p:nvSpPr>
          <p:cNvPr id="1047" name="Text 47">
            <a:extLst>
              <a:ext uri="{FF2B5EF4-FFF2-40B4-BE49-F238E27FC236}">
                <a16:creationId xmlns:a16="http://schemas.microsoft.com/office/drawing/2014/main" id="{E7AF0800-2DF7-AC10-FD9E-7CCCB67DC187}"/>
              </a:ext>
            </a:extLst>
          </p:cNvPr>
          <p:cNvSpPr/>
          <p:nvPr/>
        </p:nvSpPr>
        <p:spPr>
          <a:xfrm>
            <a:off x="6031266" y="4678680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2030 · Checkpoint one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49" name="Text 48">
            <a:extLst>
              <a:ext uri="{FF2B5EF4-FFF2-40B4-BE49-F238E27FC236}">
                <a16:creationId xmlns:a16="http://schemas.microsoft.com/office/drawing/2014/main" id="{49B9D405-608C-D98C-946A-3B20FA18E89D}"/>
              </a:ext>
            </a:extLst>
          </p:cNvPr>
          <p:cNvSpPr/>
          <p:nvPr/>
        </p:nvSpPr>
        <p:spPr>
          <a:xfrm>
            <a:off x="6031266" y="4888992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Players 4→8–10/1,000 · Ranking sub-115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51" name="Shape 49">
            <a:extLst>
              <a:ext uri="{FF2B5EF4-FFF2-40B4-BE49-F238E27FC236}">
                <a16:creationId xmlns:a16="http://schemas.microsoft.com/office/drawing/2014/main" id="{05C8D3FA-67A1-7C57-256B-B77A21908595}"/>
              </a:ext>
            </a:extLst>
          </p:cNvPr>
          <p:cNvSpPr/>
          <p:nvPr/>
        </p:nvSpPr>
        <p:spPr>
          <a:xfrm>
            <a:off x="6031266" y="5090160"/>
            <a:ext cx="5733288" cy="237744"/>
          </a:xfrm>
          <a:prstGeom prst="roundRect">
            <a:avLst>
              <a:gd name="adj" fmla="val 15385"/>
            </a:avLst>
          </a:prstGeom>
          <a:solidFill>
            <a:srgbClr val="FDECEA"/>
          </a:solidFill>
          <a:ln/>
        </p:spPr>
      </p:sp>
      <p:sp>
        <p:nvSpPr>
          <p:cNvPr id="1053" name="Text 50">
            <a:extLst>
              <a:ext uri="{FF2B5EF4-FFF2-40B4-BE49-F238E27FC236}">
                <a16:creationId xmlns:a16="http://schemas.microsoft.com/office/drawing/2014/main" id="{DE93D9C3-79B8-955E-2778-9D443E5258FE}"/>
              </a:ext>
            </a:extLst>
          </p:cNvPr>
          <p:cNvSpPr/>
          <p:nvPr/>
        </p:nvSpPr>
        <p:spPr>
          <a:xfrm>
            <a:off x="6086130" y="5081016"/>
            <a:ext cx="5660136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⚠  Miss both → re-scope the whole timeline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055" name="Shape 51">
            <a:extLst>
              <a:ext uri="{FF2B5EF4-FFF2-40B4-BE49-F238E27FC236}">
                <a16:creationId xmlns:a16="http://schemas.microsoft.com/office/drawing/2014/main" id="{E515B776-0D52-0BD3-5AB3-7297036334A7}"/>
              </a:ext>
            </a:extLst>
          </p:cNvPr>
          <p:cNvSpPr/>
          <p:nvPr/>
        </p:nvSpPr>
        <p:spPr>
          <a:xfrm>
            <a:off x="5866674" y="5547360"/>
            <a:ext cx="5989320" cy="493776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A8C8F0"/>
            </a:solidFill>
            <a:prstDash val="solid"/>
          </a:ln>
        </p:spPr>
      </p:sp>
      <p:sp>
        <p:nvSpPr>
          <p:cNvPr id="1057" name="Shape 52">
            <a:extLst>
              <a:ext uri="{FF2B5EF4-FFF2-40B4-BE49-F238E27FC236}">
                <a16:creationId xmlns:a16="http://schemas.microsoft.com/office/drawing/2014/main" id="{47321FA3-B484-8B97-477E-D85E5BC15E4E}"/>
              </a:ext>
            </a:extLst>
          </p:cNvPr>
          <p:cNvSpPr/>
          <p:nvPr/>
        </p:nvSpPr>
        <p:spPr>
          <a:xfrm>
            <a:off x="5866674" y="5547360"/>
            <a:ext cx="64008" cy="493776"/>
          </a:xfrm>
          <a:prstGeom prst="roundRect">
            <a:avLst>
              <a:gd name="adj" fmla="val 57143"/>
            </a:avLst>
          </a:prstGeom>
          <a:solidFill>
            <a:srgbClr val="1557B0"/>
          </a:solidFill>
          <a:ln/>
        </p:spPr>
      </p:sp>
      <p:sp>
        <p:nvSpPr>
          <p:cNvPr id="1059" name="Text 53">
            <a:extLst>
              <a:ext uri="{FF2B5EF4-FFF2-40B4-BE49-F238E27FC236}">
                <a16:creationId xmlns:a16="http://schemas.microsoft.com/office/drawing/2014/main" id="{6D5FAB32-B4DF-3905-B5EA-CE71BD4735F7}"/>
              </a:ext>
            </a:extLst>
          </p:cNvPr>
          <p:cNvSpPr/>
          <p:nvPr/>
        </p:nvSpPr>
        <p:spPr>
          <a:xfrm>
            <a:off x="6031266" y="5593080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2026 · Mission launch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61" name="Text 54">
            <a:extLst>
              <a:ext uri="{FF2B5EF4-FFF2-40B4-BE49-F238E27FC236}">
                <a16:creationId xmlns:a16="http://schemas.microsoft.com/office/drawing/2014/main" id="{CE689D92-8DE3-8870-4432-644A63303DED}"/>
              </a:ext>
            </a:extLst>
          </p:cNvPr>
          <p:cNvSpPr/>
          <p:nvPr/>
        </p:nvSpPr>
        <p:spPr>
          <a:xfrm>
            <a:off x="6031266" y="5803392"/>
            <a:ext cx="5733288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Wave 1 grassroots begins · Baseline: 4 players/1,000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063" name="Shape 55">
            <a:extLst>
              <a:ext uri="{FF2B5EF4-FFF2-40B4-BE49-F238E27FC236}">
                <a16:creationId xmlns:a16="http://schemas.microsoft.com/office/drawing/2014/main" id="{4BDCBC85-D645-3DCE-067D-54179DD051A2}"/>
              </a:ext>
            </a:extLst>
          </p:cNvPr>
          <p:cNvSpPr/>
          <p:nvPr/>
        </p:nvSpPr>
        <p:spPr>
          <a:xfrm flipV="1">
            <a:off x="3443514" y="1972056"/>
            <a:ext cx="2423160" cy="91440"/>
          </a:xfrm>
          <a:prstGeom prst="line">
            <a:avLst/>
          </a:prstGeom>
          <a:noFill/>
          <a:ln w="15240">
            <a:solidFill>
              <a:srgbClr val="A8C8F0"/>
            </a:solidFill>
            <a:prstDash val="sysDash"/>
          </a:ln>
        </p:spPr>
      </p:sp>
      <p:sp>
        <p:nvSpPr>
          <p:cNvPr id="1065" name="Shape 56">
            <a:extLst>
              <a:ext uri="{FF2B5EF4-FFF2-40B4-BE49-F238E27FC236}">
                <a16:creationId xmlns:a16="http://schemas.microsoft.com/office/drawing/2014/main" id="{2A5021A3-C99A-C0FA-90F5-9FFD9A98F6FC}"/>
              </a:ext>
            </a:extLst>
          </p:cNvPr>
          <p:cNvSpPr/>
          <p:nvPr/>
        </p:nvSpPr>
        <p:spPr>
          <a:xfrm>
            <a:off x="3900714" y="2740152"/>
            <a:ext cx="1965960" cy="914"/>
          </a:xfrm>
          <a:prstGeom prst="line">
            <a:avLst/>
          </a:prstGeom>
          <a:noFill/>
          <a:ln w="15240">
            <a:solidFill>
              <a:srgbClr val="A8C8F0"/>
            </a:solidFill>
            <a:prstDash val="sysDash"/>
          </a:ln>
        </p:spPr>
      </p:sp>
      <p:sp>
        <p:nvSpPr>
          <p:cNvPr id="1067" name="Shape 57">
            <a:extLst>
              <a:ext uri="{FF2B5EF4-FFF2-40B4-BE49-F238E27FC236}">
                <a16:creationId xmlns:a16="http://schemas.microsoft.com/office/drawing/2014/main" id="{40E57757-2B46-6C83-4CDD-AA78675B64A3}"/>
              </a:ext>
            </a:extLst>
          </p:cNvPr>
          <p:cNvSpPr/>
          <p:nvPr/>
        </p:nvSpPr>
        <p:spPr>
          <a:xfrm>
            <a:off x="4357914" y="3416808"/>
            <a:ext cx="1508760" cy="91440"/>
          </a:xfrm>
          <a:prstGeom prst="line">
            <a:avLst/>
          </a:prstGeom>
          <a:noFill/>
          <a:ln w="15240">
            <a:solidFill>
              <a:srgbClr val="A8C8F0"/>
            </a:solidFill>
            <a:prstDash val="sysDash"/>
          </a:ln>
        </p:spPr>
      </p:sp>
      <p:sp>
        <p:nvSpPr>
          <p:cNvPr id="1069" name="Shape 58">
            <a:extLst>
              <a:ext uri="{FF2B5EF4-FFF2-40B4-BE49-F238E27FC236}">
                <a16:creationId xmlns:a16="http://schemas.microsoft.com/office/drawing/2014/main" id="{D5BCB81E-383C-1E57-A28F-294DEF77ED5F}"/>
              </a:ext>
            </a:extLst>
          </p:cNvPr>
          <p:cNvSpPr/>
          <p:nvPr/>
        </p:nvSpPr>
        <p:spPr>
          <a:xfrm>
            <a:off x="4586514" y="3883152"/>
            <a:ext cx="1280160" cy="292608"/>
          </a:xfrm>
          <a:prstGeom prst="line">
            <a:avLst/>
          </a:prstGeom>
          <a:noFill/>
          <a:ln w="15240">
            <a:solidFill>
              <a:srgbClr val="A8C8F0"/>
            </a:solidFill>
            <a:prstDash val="sysDash"/>
          </a:ln>
        </p:spPr>
      </p:sp>
      <p:sp>
        <p:nvSpPr>
          <p:cNvPr id="1071" name="Shape 59">
            <a:extLst>
              <a:ext uri="{FF2B5EF4-FFF2-40B4-BE49-F238E27FC236}">
                <a16:creationId xmlns:a16="http://schemas.microsoft.com/office/drawing/2014/main" id="{3165CB85-3287-0AE7-AE98-A388D5B04F76}"/>
              </a:ext>
            </a:extLst>
          </p:cNvPr>
          <p:cNvSpPr/>
          <p:nvPr/>
        </p:nvSpPr>
        <p:spPr>
          <a:xfrm>
            <a:off x="4815114" y="4212336"/>
            <a:ext cx="1051560" cy="795528"/>
          </a:xfrm>
          <a:prstGeom prst="line">
            <a:avLst/>
          </a:prstGeom>
          <a:noFill/>
          <a:ln w="15240">
            <a:solidFill>
              <a:srgbClr val="A8C8F0"/>
            </a:solidFill>
            <a:prstDash val="sysDash"/>
          </a:ln>
        </p:spPr>
      </p:sp>
      <p:sp>
        <p:nvSpPr>
          <p:cNvPr id="1073" name="Shape 60">
            <a:extLst>
              <a:ext uri="{FF2B5EF4-FFF2-40B4-BE49-F238E27FC236}">
                <a16:creationId xmlns:a16="http://schemas.microsoft.com/office/drawing/2014/main" id="{4D4399CB-9A08-170A-9290-C7BA073E291D}"/>
              </a:ext>
            </a:extLst>
          </p:cNvPr>
          <p:cNvSpPr/>
          <p:nvPr/>
        </p:nvSpPr>
        <p:spPr>
          <a:xfrm>
            <a:off x="5272314" y="4888992"/>
            <a:ext cx="594360" cy="905256"/>
          </a:xfrm>
          <a:prstGeom prst="line">
            <a:avLst/>
          </a:prstGeom>
          <a:noFill/>
          <a:ln w="15240">
            <a:solidFill>
              <a:srgbClr val="A8C8F0"/>
            </a:solidFill>
            <a:prstDash val="sysDash"/>
          </a:ln>
        </p:spPr>
      </p:sp>
      <p:sp>
        <p:nvSpPr>
          <p:cNvPr id="1075" name="Text 10">
            <a:extLst>
              <a:ext uri="{FF2B5EF4-FFF2-40B4-BE49-F238E27FC236}">
                <a16:creationId xmlns:a16="http://schemas.microsoft.com/office/drawing/2014/main" id="{1DA81D18-B19D-DA20-0CCD-36EB1C9B22AA}"/>
              </a:ext>
            </a:extLst>
          </p:cNvPr>
          <p:cNvSpPr/>
          <p:nvPr/>
        </p:nvSpPr>
        <p:spPr>
          <a:xfrm>
            <a:off x="316121" y="1057511"/>
            <a:ext cx="11155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200" b="1" i="1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Two waves · five checkpoints · qualification-first strategy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214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2EC2-D0B3-2040-DF7E-16DA9DCA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5F76AF-1D3F-2A62-72FF-7BBC550D076F}"/>
              </a:ext>
            </a:extLst>
          </p:cNvPr>
          <p:cNvSpPr/>
          <p:nvPr/>
        </p:nvSpPr>
        <p:spPr>
          <a:xfrm>
            <a:off x="0" y="690818"/>
            <a:ext cx="316704" cy="474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45FA5-61B7-198B-8289-B0909660CA66}"/>
              </a:ext>
            </a:extLst>
          </p:cNvPr>
          <p:cNvSpPr txBox="1"/>
          <p:nvPr/>
        </p:nvSpPr>
        <p:spPr>
          <a:xfrm>
            <a:off x="319314" y="758371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E75B6"/>
                </a:solidFill>
                <a:latin typeface="Calibri"/>
                <a:ea typeface="Calibri"/>
                <a:cs typeface="Segoe UI"/>
              </a:rPr>
              <a:t>WHAT COULD BREAK THIS</a:t>
            </a:r>
            <a:endParaRPr lang="en-US" sz="1600" b="1" i="0">
              <a:solidFill>
                <a:srgbClr val="2E75B6"/>
              </a:solidFill>
              <a:latin typeface="Calibri"/>
              <a:ea typeface="Calibri"/>
              <a:cs typeface="Segoe UI"/>
            </a:endParaRPr>
          </a:p>
        </p:txBody>
      </p:sp>
      <p:pic>
        <p:nvPicPr>
          <p:cNvPr id="692" name="Picture 691">
            <a:extLst>
              <a:ext uri="{FF2B5EF4-FFF2-40B4-BE49-F238E27FC236}">
                <a16:creationId xmlns:a16="http://schemas.microsoft.com/office/drawing/2014/main" id="{ACC85C69-7ECD-72C0-E098-7D62D5A64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74" y="1527175"/>
            <a:ext cx="857250" cy="857250"/>
          </a:xfrm>
          <a:prstGeom prst="rect">
            <a:avLst/>
          </a:prstGeom>
        </p:spPr>
      </p:pic>
      <p:pic>
        <p:nvPicPr>
          <p:cNvPr id="693" name="Picture 692">
            <a:extLst>
              <a:ext uri="{FF2B5EF4-FFF2-40B4-BE49-F238E27FC236}">
                <a16:creationId xmlns:a16="http://schemas.microsoft.com/office/drawing/2014/main" id="{C9CEAD4D-E06E-02E4-ADFF-3AD255A44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231" y="1505403"/>
            <a:ext cx="857250" cy="857250"/>
          </a:xfrm>
          <a:prstGeom prst="rect">
            <a:avLst/>
          </a:prstGeom>
        </p:spPr>
      </p:pic>
      <p:pic>
        <p:nvPicPr>
          <p:cNvPr id="694" name="Picture 693">
            <a:extLst>
              <a:ext uri="{FF2B5EF4-FFF2-40B4-BE49-F238E27FC236}">
                <a16:creationId xmlns:a16="http://schemas.microsoft.com/office/drawing/2014/main" id="{8246A007-1BB7-90BB-8203-D3D248F4F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603" y="1541690"/>
            <a:ext cx="857250" cy="857250"/>
          </a:xfrm>
          <a:prstGeom prst="rect">
            <a:avLst/>
          </a:prstGeom>
        </p:spPr>
      </p:pic>
      <p:pic>
        <p:nvPicPr>
          <p:cNvPr id="695" name="Picture 694">
            <a:extLst>
              <a:ext uri="{FF2B5EF4-FFF2-40B4-BE49-F238E27FC236}">
                <a16:creationId xmlns:a16="http://schemas.microsoft.com/office/drawing/2014/main" id="{E8D4FD5C-AF2E-7A7B-051C-CDE3238D5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459" y="3951061"/>
            <a:ext cx="857250" cy="857250"/>
          </a:xfrm>
          <a:prstGeom prst="rect">
            <a:avLst/>
          </a:prstGeom>
        </p:spPr>
      </p:pic>
      <p:pic>
        <p:nvPicPr>
          <p:cNvPr id="696" name="Picture 695">
            <a:extLst>
              <a:ext uri="{FF2B5EF4-FFF2-40B4-BE49-F238E27FC236}">
                <a16:creationId xmlns:a16="http://schemas.microsoft.com/office/drawing/2014/main" id="{C56BE8F5-A198-E45A-402B-4139DC222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288" y="3863974"/>
            <a:ext cx="857250" cy="857250"/>
          </a:xfrm>
          <a:prstGeom prst="rect">
            <a:avLst/>
          </a:prstGeom>
        </p:spPr>
      </p:pic>
      <p:pic>
        <p:nvPicPr>
          <p:cNvPr id="697" name="Picture 696">
            <a:extLst>
              <a:ext uri="{FF2B5EF4-FFF2-40B4-BE49-F238E27FC236}">
                <a16:creationId xmlns:a16="http://schemas.microsoft.com/office/drawing/2014/main" id="{68CE3001-A9C3-1630-07A5-88CFB6755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146" y="3842204"/>
            <a:ext cx="857250" cy="857250"/>
          </a:xfrm>
          <a:prstGeom prst="rect">
            <a:avLst/>
          </a:prstGeom>
        </p:spPr>
      </p:pic>
      <p:sp>
        <p:nvSpPr>
          <p:cNvPr id="698" name="TextBox 697">
            <a:extLst>
              <a:ext uri="{FF2B5EF4-FFF2-40B4-BE49-F238E27FC236}">
                <a16:creationId xmlns:a16="http://schemas.microsoft.com/office/drawing/2014/main" id="{3CD86F02-5122-6053-A2C1-9B02A1854C32}"/>
              </a:ext>
            </a:extLst>
          </p:cNvPr>
          <p:cNvSpPr txBox="1"/>
          <p:nvPr/>
        </p:nvSpPr>
        <p:spPr>
          <a:xfrm>
            <a:off x="522513" y="2543629"/>
            <a:ext cx="23948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200" kern="12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India's actual track record is stop-start — ISL launched 2014, ranking still fell.</a:t>
            </a:r>
          </a:p>
          <a:p>
            <a:pPr algn="ctr"/>
            <a:endParaRPr lang="en-US" sz="1200">
              <a:ea typeface="Calibri"/>
              <a:cs typeface="Calibri"/>
            </a:endParaRP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5D2A905E-7D5A-E8C2-7F96-5AB778EAA2FE}"/>
              </a:ext>
            </a:extLst>
          </p:cNvPr>
          <p:cNvSpPr txBox="1"/>
          <p:nvPr/>
        </p:nvSpPr>
        <p:spPr>
          <a:xfrm>
            <a:off x="253998" y="4916714"/>
            <a:ext cx="304800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200" kern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Tie each funding tranche to the roadmap's checkpoints, not a blank multi-decade cheque.</a:t>
            </a:r>
          </a:p>
          <a:p>
            <a:pPr algn="ctr"/>
            <a:endParaRPr lang="en-US"/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69CC4C9D-4793-89B4-040B-F01F5904A52A}"/>
              </a:ext>
            </a:extLst>
          </p:cNvPr>
          <p:cNvSpPr txBox="1"/>
          <p:nvPr/>
        </p:nvSpPr>
        <p:spPr>
          <a:xfrm>
            <a:off x="3570512" y="4844142"/>
            <a:ext cx="26706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kern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Ring-fence the ₹100,000 crore as a separate mandate from Olympic-bid budget lines</a:t>
            </a: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01" name="TextBox 700">
            <a:extLst>
              <a:ext uri="{FF2B5EF4-FFF2-40B4-BE49-F238E27FC236}">
                <a16:creationId xmlns:a16="http://schemas.microsoft.com/office/drawing/2014/main" id="{ADC498B7-CD6D-5610-9F5B-E237BF442D8F}"/>
              </a:ext>
            </a:extLst>
          </p:cNvPr>
          <p:cNvSpPr txBox="1"/>
          <p:nvPr/>
        </p:nvSpPr>
        <p:spPr>
          <a:xfrm>
            <a:off x="6698341" y="4778828"/>
            <a:ext cx="244565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200" kern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The qualification-first strategy still pays off even if hosting timing slips.</a:t>
            </a:r>
          </a:p>
          <a:p>
            <a:pPr algn="ctr"/>
            <a:endParaRPr 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8DB7B168-861C-AB60-99F7-EAA5F1E9C929}"/>
              </a:ext>
            </a:extLst>
          </p:cNvPr>
          <p:cNvSpPr txBox="1"/>
          <p:nvPr/>
        </p:nvSpPr>
        <p:spPr>
          <a:xfrm>
            <a:off x="3454398" y="2449285"/>
            <a:ext cx="24456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200" kern="12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The 2036 Olympic bid absorbs political attention and sponsorship capital.</a:t>
            </a:r>
          </a:p>
          <a:p>
            <a:pPr algn="ctr"/>
            <a:endParaRPr lang="en-US"/>
          </a:p>
        </p:txBody>
      </p:sp>
      <p:sp>
        <p:nvSpPr>
          <p:cNvPr id="709" name="TextBox 708">
            <a:extLst>
              <a:ext uri="{FF2B5EF4-FFF2-40B4-BE49-F238E27FC236}">
                <a16:creationId xmlns:a16="http://schemas.microsoft.com/office/drawing/2014/main" id="{08CE7AE8-23E6-7732-3344-43208E3237DC}"/>
              </a:ext>
            </a:extLst>
          </p:cNvPr>
          <p:cNvSpPr txBox="1"/>
          <p:nvPr/>
        </p:nvSpPr>
        <p:spPr>
          <a:xfrm>
            <a:off x="6923314" y="2471057"/>
            <a:ext cx="198845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200" kern="12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AFC's hosting rotation could shift the 2042/2046 window.</a:t>
            </a:r>
          </a:p>
          <a:p>
            <a:pPr algn="ctr"/>
            <a:endParaRPr lang="en-US"/>
          </a:p>
        </p:txBody>
      </p:sp>
      <p:pic>
        <p:nvPicPr>
          <p:cNvPr id="710" name="Picture 709">
            <a:extLst>
              <a:ext uri="{FF2B5EF4-FFF2-40B4-BE49-F238E27FC236}">
                <a16:creationId xmlns:a16="http://schemas.microsoft.com/office/drawing/2014/main" id="{923688D5-12E2-4C9A-F2FF-FE94903F6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761" y="1739220"/>
            <a:ext cx="447675" cy="447675"/>
          </a:xfrm>
          <a:prstGeom prst="rect">
            <a:avLst/>
          </a:prstGeom>
        </p:spPr>
      </p:pic>
      <p:pic>
        <p:nvPicPr>
          <p:cNvPr id="711" name="Picture 710">
            <a:extLst>
              <a:ext uri="{FF2B5EF4-FFF2-40B4-BE49-F238E27FC236}">
                <a16:creationId xmlns:a16="http://schemas.microsoft.com/office/drawing/2014/main" id="{30198E3D-F9E0-5209-D05B-175E31FCA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018" y="1717448"/>
            <a:ext cx="447675" cy="447675"/>
          </a:xfrm>
          <a:prstGeom prst="rect">
            <a:avLst/>
          </a:prstGeom>
        </p:spPr>
      </p:pic>
      <p:pic>
        <p:nvPicPr>
          <p:cNvPr id="712" name="Picture 711">
            <a:extLst>
              <a:ext uri="{FF2B5EF4-FFF2-40B4-BE49-F238E27FC236}">
                <a16:creationId xmlns:a16="http://schemas.microsoft.com/office/drawing/2014/main" id="{1534CD1E-F866-E199-E24B-0CDA2161A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390" y="1753735"/>
            <a:ext cx="447675" cy="447675"/>
          </a:xfrm>
          <a:prstGeom prst="rect">
            <a:avLst/>
          </a:prstGeom>
        </p:spPr>
      </p:pic>
      <p:pic>
        <p:nvPicPr>
          <p:cNvPr id="719" name="Picture 718">
            <a:extLst>
              <a:ext uri="{FF2B5EF4-FFF2-40B4-BE49-F238E27FC236}">
                <a16:creationId xmlns:a16="http://schemas.microsoft.com/office/drawing/2014/main" id="{D1FFDD7F-B875-B67F-3812-6BEB7ACED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247" y="4163106"/>
            <a:ext cx="447675" cy="447675"/>
          </a:xfrm>
          <a:prstGeom prst="rect">
            <a:avLst/>
          </a:prstGeom>
        </p:spPr>
      </p:pic>
      <p:pic>
        <p:nvPicPr>
          <p:cNvPr id="720" name="Picture 719">
            <a:extLst>
              <a:ext uri="{FF2B5EF4-FFF2-40B4-BE49-F238E27FC236}">
                <a16:creationId xmlns:a16="http://schemas.microsoft.com/office/drawing/2014/main" id="{E27E3BBF-8545-2590-8EE8-320DF56DE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075" y="4076020"/>
            <a:ext cx="447675" cy="447675"/>
          </a:xfrm>
          <a:prstGeom prst="rect">
            <a:avLst/>
          </a:prstGeom>
        </p:spPr>
      </p:pic>
      <p:pic>
        <p:nvPicPr>
          <p:cNvPr id="721" name="Picture 720">
            <a:extLst>
              <a:ext uri="{FF2B5EF4-FFF2-40B4-BE49-F238E27FC236}">
                <a16:creationId xmlns:a16="http://schemas.microsoft.com/office/drawing/2014/main" id="{DE437497-7D46-BBE2-223B-5F760E1FA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933" y="4054249"/>
            <a:ext cx="447675" cy="447675"/>
          </a:xfrm>
          <a:prstGeom prst="rect">
            <a:avLst/>
          </a:prstGeom>
        </p:spPr>
      </p:pic>
      <p:pic>
        <p:nvPicPr>
          <p:cNvPr id="724" name="Picture 723">
            <a:extLst>
              <a:ext uri="{FF2B5EF4-FFF2-40B4-BE49-F238E27FC236}">
                <a16:creationId xmlns:a16="http://schemas.microsoft.com/office/drawing/2014/main" id="{D27BEBFE-930B-E51D-AFB6-41C140D02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8403" y="3296103"/>
            <a:ext cx="247650" cy="628650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2F274859-0769-A1A7-EB9D-15AE8D341EAB}"/>
              </a:ext>
            </a:extLst>
          </p:cNvPr>
          <p:cNvSpPr/>
          <p:nvPr/>
        </p:nvSpPr>
        <p:spPr>
          <a:xfrm>
            <a:off x="-2974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CONTEXT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429D5594-00ED-D446-9D2F-5F9B7E9D1994}"/>
              </a:ext>
            </a:extLst>
          </p:cNvPr>
          <p:cNvSpPr/>
          <p:nvPr/>
        </p:nvSpPr>
        <p:spPr>
          <a:xfrm>
            <a:off x="9757883" y="61352"/>
            <a:ext cx="2451041" cy="597311"/>
          </a:xfrm>
          <a:prstGeom prst="chevron">
            <a:avLst/>
          </a:prstGeom>
          <a:solidFill>
            <a:srgbClr val="0054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IMPROVEMENTS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8E4A0FAB-1101-0611-955B-34E0193F94D7}"/>
              </a:ext>
            </a:extLst>
          </p:cNvPr>
          <p:cNvSpPr/>
          <p:nvPr/>
        </p:nvSpPr>
        <p:spPr>
          <a:xfrm>
            <a:off x="2355597" y="54096"/>
            <a:ext cx="2197040" cy="597311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rgbClr val="0057B8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DIAGNOSIS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842BEA0-4661-85F1-D137-4B3843965BD3}"/>
              </a:ext>
            </a:extLst>
          </p:cNvPr>
          <p:cNvSpPr/>
          <p:nvPr/>
        </p:nvSpPr>
        <p:spPr>
          <a:xfrm>
            <a:off x="4793996" y="54095"/>
            <a:ext cx="2189783" cy="611825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ECONOMICS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EC4ECD7C-EEB6-6D28-72E9-ECEF18E1874F}"/>
              </a:ext>
            </a:extLst>
          </p:cNvPr>
          <p:cNvSpPr/>
          <p:nvPr/>
        </p:nvSpPr>
        <p:spPr>
          <a:xfrm>
            <a:off x="7312225" y="46838"/>
            <a:ext cx="2451040" cy="604568"/>
          </a:xfrm>
          <a:prstGeom prst="chevron">
            <a:avLst/>
          </a:prstGeom>
          <a:solidFill>
            <a:srgbClr val="0057B8">
              <a:alpha val="2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OPERATIONS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3F5035-13D1-835A-2126-523A6EF1C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7030" y="3267073"/>
            <a:ext cx="247650" cy="628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496EED-C51B-355B-AA0B-4B07BF71C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7258" y="3296102"/>
            <a:ext cx="247650" cy="628650"/>
          </a:xfrm>
          <a:prstGeom prst="rect">
            <a:avLst/>
          </a:prstGeom>
        </p:spPr>
      </p:pic>
      <p:pic>
        <p:nvPicPr>
          <p:cNvPr id="13" name="Picture 12" descr="A yellow circle with black background&#10;&#10;AI-generated content may be incorrect.">
            <a:extLst>
              <a:ext uri="{FF2B5EF4-FFF2-40B4-BE49-F238E27FC236}">
                <a16:creationId xmlns:a16="http://schemas.microsoft.com/office/drawing/2014/main" id="{33663847-1053-B965-88DD-52EE3B268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17" y="1563461"/>
            <a:ext cx="857250" cy="857250"/>
          </a:xfrm>
          <a:prstGeom prst="rect">
            <a:avLst/>
          </a:prstGeom>
        </p:spPr>
      </p:pic>
      <p:pic>
        <p:nvPicPr>
          <p:cNvPr id="14" name="Picture 13" descr="A green circle with black background&#10;&#10;AI-generated content may be incorrect.">
            <a:extLst>
              <a:ext uri="{FF2B5EF4-FFF2-40B4-BE49-F238E27FC236}">
                <a16:creationId xmlns:a16="http://schemas.microsoft.com/office/drawing/2014/main" id="{D4236984-78E4-F220-6399-EF37074DA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660" y="3813175"/>
            <a:ext cx="857250" cy="8572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CD9473-9F9E-6CC4-F97A-8B676ADBB3DE}"/>
              </a:ext>
            </a:extLst>
          </p:cNvPr>
          <p:cNvSpPr txBox="1"/>
          <p:nvPr/>
        </p:nvSpPr>
        <p:spPr>
          <a:xfrm>
            <a:off x="9506855" y="4800599"/>
            <a:ext cx="24456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Structure funding through an independent statutory trust, insulated from political turnover.</a:t>
            </a:r>
            <a:endParaRPr lang="en-US" sz="1200">
              <a:solidFill>
                <a:srgbClr val="6B7280"/>
              </a:solidFill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A4A2F-3BCC-2E4A-799B-D86B14EA846F}"/>
              </a:ext>
            </a:extLst>
          </p:cNvPr>
          <p:cNvSpPr txBox="1"/>
          <p:nvPr/>
        </p:nvSpPr>
        <p:spPr>
          <a:xfrm>
            <a:off x="9731828" y="2492828"/>
            <a:ext cx="198845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A 20-year plan spans ~4 election cycles — priorities can </a:t>
            </a:r>
            <a:r>
              <a:rPr lang="en-US" sz="1100" kern="12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shift </a:t>
            </a:r>
            <a:r>
              <a:rPr lang="en-US" sz="11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with each government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20" name="Picture 19" descr="A white line with a exclamation mark&#10;&#10;AI-generated content may be incorrect.">
            <a:extLst>
              <a:ext uri="{FF2B5EF4-FFF2-40B4-BE49-F238E27FC236}">
                <a16:creationId xmlns:a16="http://schemas.microsoft.com/office/drawing/2014/main" id="{0681B843-CAD3-F20E-66F4-9F224F8F0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904" y="1775506"/>
            <a:ext cx="447675" cy="447675"/>
          </a:xfrm>
          <a:prstGeom prst="rect">
            <a:avLst/>
          </a:prstGeom>
        </p:spPr>
      </p:pic>
      <p:pic>
        <p:nvPicPr>
          <p:cNvPr id="22" name="Picture 21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ECB3BB90-14CE-23C5-E201-7952D3C01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447" y="4025220"/>
            <a:ext cx="447675" cy="447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B8AEA6-26B3-3BE0-B314-097F801AF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2231" y="3267074"/>
            <a:ext cx="247650" cy="6286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708694-FF63-F12E-1F13-4588317ECB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7811" y="3155949"/>
            <a:ext cx="1272722" cy="2267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0C18986-8403-33DF-D008-8A513728AD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867" y="3155948"/>
            <a:ext cx="1272722" cy="2267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B34E15E-C1DB-2033-0E83-89234FA5B1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7868" y="3155948"/>
            <a:ext cx="1272722" cy="2267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472F55D-0681-F818-6130-5B8D159F1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495" y="3155947"/>
            <a:ext cx="1272722" cy="2267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881C1D1-72D9-F01C-C4B8-F95AC25E7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752" y="3155947"/>
            <a:ext cx="1272722" cy="2267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B83C8CE-CD78-1FF4-22DF-FB586D816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9924" y="3155947"/>
            <a:ext cx="1272722" cy="22678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0A1864E-DF9A-8813-B0EE-8178EF9B94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2210" y="3184977"/>
            <a:ext cx="1272722" cy="2267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496E872-2DF6-22EF-11E3-AF3820FFBA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267" y="3199491"/>
            <a:ext cx="1272722" cy="2267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26CCE37-32F3-B2B0-3C99-CE6746F7C1C0}"/>
              </a:ext>
            </a:extLst>
          </p:cNvPr>
          <p:cNvSpPr txBox="1"/>
          <p:nvPr/>
        </p:nvSpPr>
        <p:spPr>
          <a:xfrm>
            <a:off x="365513" y="3202366"/>
            <a:ext cx="104751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C0392B"/>
                </a:solidFill>
                <a:ea typeface="Calibri"/>
                <a:cs typeface="Calibri"/>
              </a:rPr>
              <a:t> Likelihood: High</a:t>
            </a:r>
            <a:endParaRPr lang="en-US" sz="800">
              <a:ea typeface="Calibri" panose="020F0502020204030204"/>
              <a:cs typeface="Calibri" panose="020F0502020204030204"/>
            </a:endParaRPr>
          </a:p>
          <a:p>
            <a:pPr algn="l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1A8380-DF90-78C5-F9A1-950BD5BE6304}"/>
              </a:ext>
            </a:extLst>
          </p:cNvPr>
          <p:cNvSpPr txBox="1"/>
          <p:nvPr/>
        </p:nvSpPr>
        <p:spPr>
          <a:xfrm>
            <a:off x="1780655" y="3202364"/>
            <a:ext cx="104751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C0392B"/>
                </a:solidFill>
                <a:ea typeface="Calibri"/>
                <a:cs typeface="Calibri"/>
              </a:rPr>
              <a:t>Impact: High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ECAC57-684A-4D9C-7EB7-F15CF456E42D}"/>
              </a:ext>
            </a:extLst>
          </p:cNvPr>
          <p:cNvSpPr txBox="1"/>
          <p:nvPr/>
        </p:nvSpPr>
        <p:spPr>
          <a:xfrm>
            <a:off x="9494998" y="3158823"/>
            <a:ext cx="104751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C0392B"/>
                </a:solidFill>
                <a:ea typeface="Calibri"/>
                <a:cs typeface="Calibri"/>
              </a:rPr>
              <a:t>Likelihood: High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AD029C-C514-897A-BCDA-15E0C129B091}"/>
              </a:ext>
            </a:extLst>
          </p:cNvPr>
          <p:cNvSpPr txBox="1"/>
          <p:nvPr/>
        </p:nvSpPr>
        <p:spPr>
          <a:xfrm>
            <a:off x="10931912" y="3158823"/>
            <a:ext cx="104751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C0392B"/>
                </a:solidFill>
                <a:ea typeface="Calibri"/>
                <a:cs typeface="Calibri"/>
              </a:rPr>
              <a:t>Impact: High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6B3B84-95E4-AB02-C615-16FEA0B028F6}"/>
              </a:ext>
            </a:extLst>
          </p:cNvPr>
          <p:cNvSpPr txBox="1"/>
          <p:nvPr/>
        </p:nvSpPr>
        <p:spPr>
          <a:xfrm>
            <a:off x="4915741" y="3158822"/>
            <a:ext cx="1047512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C0392B"/>
                </a:solidFill>
                <a:ea typeface="Calibri"/>
                <a:cs typeface="Calibri"/>
              </a:rPr>
              <a:t>Impact: High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817D22-C49A-9795-1782-8827D742C9E8}"/>
              </a:ext>
            </a:extLst>
          </p:cNvPr>
          <p:cNvSpPr txBox="1"/>
          <p:nvPr/>
        </p:nvSpPr>
        <p:spPr>
          <a:xfrm>
            <a:off x="3457054" y="3158821"/>
            <a:ext cx="104751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E8912A"/>
                </a:solidFill>
                <a:ea typeface="Calibri"/>
                <a:cs typeface="Calibri"/>
              </a:rPr>
              <a:t>Likelihood: Medium</a:t>
            </a:r>
            <a:endParaRPr lang="en-US"/>
          </a:p>
          <a:p>
            <a:pPr algn="ctr"/>
            <a:endParaRPr lang="en-US" sz="800" b="1">
              <a:solidFill>
                <a:srgbClr val="C0392B"/>
              </a:solidFill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1E9A28-3A86-3AD2-53C0-4CD06C4A2738}"/>
              </a:ext>
            </a:extLst>
          </p:cNvPr>
          <p:cNvSpPr txBox="1"/>
          <p:nvPr/>
        </p:nvSpPr>
        <p:spPr>
          <a:xfrm>
            <a:off x="6534083" y="3158820"/>
            <a:ext cx="104751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E8912A"/>
                </a:solidFill>
                <a:ea typeface="Calibri"/>
                <a:cs typeface="Calibri"/>
              </a:rPr>
              <a:t>Likelihood: Medium</a:t>
            </a:r>
            <a:endParaRPr lang="en-US"/>
          </a:p>
          <a:p>
            <a:pPr algn="ctr"/>
            <a:endParaRPr lang="en-US" sz="800" b="1">
              <a:solidFill>
                <a:srgbClr val="C0392B"/>
              </a:solidFill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30BAC9-9FE6-631E-990B-AB8BA96EE6D0}"/>
              </a:ext>
            </a:extLst>
          </p:cNvPr>
          <p:cNvSpPr txBox="1"/>
          <p:nvPr/>
        </p:nvSpPr>
        <p:spPr>
          <a:xfrm>
            <a:off x="8079854" y="3158820"/>
            <a:ext cx="104751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" b="1">
                <a:solidFill>
                  <a:srgbClr val="E8912A"/>
                </a:solidFill>
                <a:ea typeface="Calibri"/>
                <a:cs typeface="Calibri"/>
              </a:rPr>
              <a:t>Impact: Medium</a:t>
            </a:r>
            <a:endParaRPr lang="en-US"/>
          </a:p>
          <a:p>
            <a:pPr algn="ctr"/>
            <a:endParaRPr lang="en-US" sz="800" b="1">
              <a:solidFill>
                <a:srgbClr val="C0392B"/>
              </a:solidFill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036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53405E-DBAC-B69C-7998-E9CCA4E0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03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32DAF4-A115-CA7F-D0B3-5355037E6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51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86015-9ED1-654A-1B95-198891507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3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Varun Singhal</dc:creator>
  <cp:revision>3</cp:revision>
  <dcterms:created xsi:type="dcterms:W3CDTF">2026-07-16T07:28:41Z</dcterms:created>
  <dcterms:modified xsi:type="dcterms:W3CDTF">2026-07-19T13:57:40Z</dcterms:modified>
</cp:coreProperties>
</file>